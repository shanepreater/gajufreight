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GajuFreight agrees the price, locks the money and pays it out as the goods move, with proof at every step. Nobody has to trust anybody's spreadsheet, including 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 which of these they've lived through this quarter. The common thread: money and proof live in different places, so someone always carries the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step is signed by the party taking it, in their own wallet. GajuFreight builds the transaction; it never holds keys or money.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to leave up during questions. Each GajuFreight cell is enforced by the contract, not by a promise in a terms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shipper pays exactly the agreed price: the forwarder pays the platform fee when it confirms the booking, and refunds carry no fee.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Fee: 1% of the shipping cost, with a minimum of 1 Gaju, staked when you confirm the booking and kept if you then fail to deliver. Your payouts carry no fee. The contract never takes more than 10% of the shipping cost, even for a tiny shipment, and the rate is fixed when the quote is requested.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Gajumaru is a public blockchain. The contracts are small, open source and will be externally audited before any real money flows. Forwarders and carriers are verified businesses: anyone can check the badge, and a company proves who it is to the customers it chooses, without its name going on the public ledger.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this upfront: agreed terms are public so both sides can rely on them later. A competitor reading the ledger could see lanes, volumes and prices, but never who the parties are or what the documents say.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Network fees are about 0.0002 Gaju per action, so a whole shipment with two legs costs about 0.005 Gaju in network fees, shared between the parties. Prices and payments are in Gaju (木) for now; other currencies are out of scope for the pilot. The fee starts at 1% with a 1 Gaju minimum; both are set by GajuFreight's admin vote and can change, but a shipment keeps the settings in force when its quotes were requested. The 10% limit is fixed in the contract: no vote can raise the rate above it, and it overrides the minimum.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We're looking for a handful of shippers and forwarders with real lanes to shape the product. The testnet stage uses no real money.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4262718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26517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760"/>
              </a:spcAft>
            </a:pPr>
            <a:r>
              <a:rPr sz="4400" b="1">
                <a:solidFill>
                  <a:srgbClr val="111827"/>
                </a:solidFill>
                <a:latin typeface="Montserrat"/>
              </a:rPr>
              <a:t>Freight paid as it moves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8404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80"/>
              </a:spcAft>
            </a:pPr>
            <a:r>
              <a:rPr sz="2200" b="0">
                <a:solidFill>
                  <a:srgbClr val="4B5563"/>
                </a:solidFill>
                <a:latin typeface="Montserrat"/>
              </a:rPr>
              <a:t>Escrow-backed shipping payments for shippers, forwarders and carriers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760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60"/>
              </a:spcAft>
            </a:pPr>
            <a:r>
              <a:rPr sz="1400" b="1">
                <a:solidFill>
                  <a:srgbClr val="C2410C"/>
                </a:solidFill>
                <a:latin typeface="Montserrat"/>
              </a:rPr>
              <a:t>Pilot programme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Freight payment runs on trust that nobody can check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Shippers pay blind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Paying up front, or on invoice, with little proof of where the goods are or whether milestones were met.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6543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36543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Forwarders wait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36543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Forwarders and carriers often fund the move themselves and wait weeks after delivery to be paid.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6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006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Status is scattered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6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Updates arrive by email, portal and phone call, and each party holds a different version of the truth.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29469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29469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Disputes drag 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29469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With no shared record, a missing pallet becomes weeks of emails, withheld payments and sometimes lawyers.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The deal, the money and the proof, in one shared record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1  Agree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The shipper invites forwarders to quote. Up to three counter offers, then the shipper accepts. The terms are fixed.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6543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36543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2  Fund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36543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One signature locks the agreed price in an escrow contract, on exactly the agreed terms.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6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006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3 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6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Named port agents and carriers scan custody at each milestone. Each scan pays that milestone.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29469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29469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4  Settle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29469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Proven delivery releases the rest. Missed deadline: the shipper is refunded. Dispute: a panel decides.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WHY SWITCH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Traditional freight payment and GajuFreight, side by side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103120"/>
          <a:ext cx="1091153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931920"/>
                <a:gridCol w="4602175"/>
              </a:tblGrid>
              <a:tr h="4800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ontserrat"/>
                        </a:rPr>
                        <a:t/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ontserrat"/>
                        </a:rPr>
                        <a:t>Traditional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ontserrat"/>
                        </a:rPr>
                        <a:t>GajuFreight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11827"/>
                          </a:solidFill>
                          <a:latin typeface="Montserrat"/>
                        </a:rPr>
                        <a:t>Agreeing a price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B5563"/>
                          </a:solidFill>
                          <a:latin typeface="Montserrat"/>
                        </a:rPr>
                        <a:t>Emails, PDFs and phone calls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Montserrat"/>
                        </a:rPr>
                        <a:t>Quotes and counters recorded; accepted terms can't change</a:t>
                      </a:r>
                    </a:p>
                  </a:txBody>
                  <a:tcPr anchor="ctr">
                    <a:solidFill>
                      <a:srgbClr val="FFF1EB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11827"/>
                          </a:solidFill>
                          <a:latin typeface="Montserrat"/>
                        </a:rPr>
                        <a:t>Payment security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B5563"/>
                          </a:solidFill>
                          <a:latin typeface="Montserrat"/>
                        </a:rPr>
                        <a:t>Prepay and hope, or extend credit and chase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Montserrat"/>
                        </a:rPr>
                        <a:t>Funds locked in escrow before anything moves</a:t>
                      </a:r>
                    </a:p>
                  </a:txBody>
                  <a:tcPr anchor="ctr">
                    <a:solidFill>
                      <a:srgbClr val="FFF1EB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11827"/>
                          </a:solidFill>
                          <a:latin typeface="Montserrat"/>
                        </a:rPr>
                        <a:t>Getting paid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B5563"/>
                          </a:solidFill>
                          <a:latin typeface="Montserrat"/>
                        </a:rPr>
                        <a:t>On invoice terms, weeks after delivery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Montserrat"/>
                        </a:rPr>
                        <a:t>At each confirmed milestone, within minutes</a:t>
                      </a:r>
                    </a:p>
                  </a:txBody>
                  <a:tcPr anchor="ctr">
                    <a:solidFill>
                      <a:srgbClr val="FFF1EB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11827"/>
                          </a:solidFill>
                          <a:latin typeface="Montserrat"/>
                        </a:rPr>
                        <a:t>Proof of delivery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B5563"/>
                          </a:solidFill>
                          <a:latin typeface="Montserrat"/>
                        </a:rPr>
                        <a:t>Paper signatures and emailed photos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Montserrat"/>
                        </a:rPr>
                        <a:t>Scan, photos and a delivery code, sealed with a fingerprint</a:t>
                      </a:r>
                    </a:p>
                  </a:txBody>
                  <a:tcPr anchor="ctr">
                    <a:solidFill>
                      <a:srgbClr val="FFF1EB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11827"/>
                          </a:solidFill>
                          <a:latin typeface="Montserrat"/>
                        </a:rPr>
                        <a:t>Disputes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B5563"/>
                          </a:solidFill>
                          <a:latin typeface="Montserrat"/>
                        </a:rPr>
                        <a:t>Withheld payments, email chains, lawyers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Montserrat"/>
                        </a:rPr>
                        <a:t>Panel of arbiters, with a fallback split agreed up front</a:t>
                      </a:r>
                    </a:p>
                  </a:txBody>
                  <a:tcPr anchor="ctr">
                    <a:solidFill>
                      <a:srgbClr val="FFF1EB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11827"/>
                          </a:solidFill>
                          <a:latin typeface="Montserrat"/>
                        </a:rPr>
                        <a:t>Who you're dealing with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B5563"/>
                          </a:solidFill>
                          <a:latin typeface="Montserrat"/>
                        </a:rPr>
                        <a:t>A website and a letterhead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Montserrat"/>
                        </a:rPr>
                        <a:t>Verified businesses, with a badge anyone can check</a:t>
                      </a:r>
                    </a:p>
                  </a:txBody>
                  <a:tcPr anchor="ctr">
                    <a:solidFill>
                      <a:srgbClr val="FFF1EB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11827"/>
                          </a:solidFill>
                          <a:latin typeface="Montserrat"/>
                        </a:rPr>
                        <a:t>Visibility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B5563"/>
                          </a:solidFill>
                          <a:latin typeface="Montserrat"/>
                        </a:rPr>
                        <a:t>Ask the forwarder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827"/>
                          </a:solidFill>
                          <a:latin typeface="Montserrat"/>
                        </a:rPr>
                        <a:t>Every party works from the same live record</a:t>
                      </a:r>
                    </a:p>
                  </a:txBody>
                  <a:tcPr anchor="ctr">
                    <a:solidFill>
                      <a:srgbClr val="FFF1E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FOR SHIPPERS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Pay for proven progress, never for promises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0428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Your money is never in our hands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4203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Funds sit in a contract only the agreed rules can move. GajuFreight can't touch them.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17296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Pay only as milestones are proven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1071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Each payment follows a custody scan by an attestor you agreed to, with evidence kept on file.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04164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93192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Refunds the contract guarantees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27939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If the deadline passes without delivery, the unpaid balance comes back to you. No chasing.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91032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8006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Comparable quotes, exact 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4807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Invited forwarders quote on the same consignment; you pay the price you accepted and no platform fee.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FOR FORWARDERS AND CARRIERS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Get paid as you deliver, not weeks later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6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0428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Know the money is there before you move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4203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The shipper funds the escrow when they book; you confirm before you move a box, so you never carry the credit risk.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17296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Paid at every milestone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1071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Each confirmed scan-in pays its milestone straight to you, improving cash flow on long moves.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04164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93192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Subcontract legs on the same terms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27939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Book each carrier through GajuFreight too: they're paid at handover, from an escrow you fund.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910328"/>
            <a:ext cx="109728" cy="109728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8006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A dispute can't freeze everything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4807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0">
                <a:solidFill>
                  <a:srgbClr val="4B5563"/>
                </a:solidFill>
                <a:latin typeface="Montserrat"/>
              </a:rPr>
              <a:t>Milestones already paid stay paid. Only the unpaid balance goes to the panel.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BUILT-IN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Nobody has to trust us, or each other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7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We never hold keys or funds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Every action is signed in the party's own wallet. Our servers build transactions; they can't sign them.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6543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36543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Named witnesses per shipment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36543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Only the attestors agreed for this shipment can record custody, and no one attests their own payment.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6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006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Tamper-evident evidence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6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Scans, photos and documents are stored encrypted; their fingerprint on the ledger proves they haven't changed.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29469" y="2377440"/>
            <a:ext cx="2522143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29469" y="2560320"/>
            <a:ext cx="25221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No single party can block payment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29469" y="3429000"/>
            <a:ext cx="2522143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Delivery codes, challenge windows, deadlines and a panel fallback mean money always has a way out.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PRIVACY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What's on the public ledger, and what stays private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356616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423160"/>
            <a:ext cx="463280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20"/>
              </a:spcAft>
            </a:pPr>
            <a:r>
              <a:rPr sz="1800" b="1">
                <a:solidFill>
                  <a:srgbClr val="111827"/>
                </a:solidFill>
                <a:latin typeface="Montserrat"/>
              </a:rPr>
              <a:t>Public on the ledger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063240"/>
            <a:ext cx="4632807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Agreed price and milestone schedule</a:t>
            </a:r>
          </a:p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Route, as port codes (for example CNSHA → NLRTM)</a:t>
            </a:r>
          </a:p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Cargo sizes, weights and deliver-by date</a:t>
            </a:r>
          </a:p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Platform fees paid</a:t>
            </a:r>
          </a:p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Which addresses are verified businesses (no names)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8727" y="2194560"/>
            <a:ext cx="5272887" cy="3566160"/>
          </a:xfrm>
          <a:prstGeom prst="rect">
            <a:avLst/>
          </a:prstGeom>
          <a:solidFill>
            <a:srgbClr val="FF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98767" y="2423160"/>
            <a:ext cx="463280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20"/>
              </a:spcAft>
            </a:pPr>
            <a:r>
              <a:rPr sz="1800" b="1">
                <a:solidFill>
                  <a:srgbClr val="111827"/>
                </a:solidFill>
                <a:latin typeface="Montserrat"/>
              </a:rPr>
              <a:t>Private to those involved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8767" y="3063240"/>
            <a:ext cx="4632807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Company names, contacts and addresses</a:t>
            </a:r>
          </a:p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The consignee</a:t>
            </a:r>
          </a:p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Documents, photos and delivery evidence</a:t>
            </a:r>
          </a:p>
          <a:p>
            <a:pPr algn="l">
              <a:spcAft>
                <a:spcPts val="560"/>
              </a:spcAft>
            </a:pPr>
            <a:r>
              <a:rPr sz="1400" b="0">
                <a:solidFill>
                  <a:srgbClr val="111827"/>
                </a:solidFill>
                <a:latin typeface="Montserrat"/>
              </a:rPr>
              <a:t>Leg prices, shown only to the forwarder and that carrier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Simple fees, fixed before you agree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77440"/>
            <a:ext cx="3454298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345429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Shippers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29000"/>
            <a:ext cx="3454298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Pay the agreed price, and nothing more. Refunds and your share of a dispute split carry no fee.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2377440"/>
            <a:ext cx="3454298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68698" y="2560320"/>
            <a:ext cx="345429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Forwarders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68698" y="3429000"/>
            <a:ext cx="3454298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1% of the shipping cost (minimum 1 Gaju), staked when you confirm the booking and kept if you fail to deliver. Never more than 10%: a limit built into the contract.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97316" y="2377440"/>
            <a:ext cx="3454298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7316" y="2560320"/>
            <a:ext cx="345429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Network fees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7316" y="3429000"/>
            <a:ext cx="3454298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A tiny charge per signed action, paid by whoever signs it: a fraction of a Gaju for a whole shipment.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0" cy="73152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</a:pPr>
            <a:r>
              <a:rPr sz="1200" b="1">
                <a:solidFill>
                  <a:srgbClr val="C2410C"/>
                </a:solidFill>
                <a:latin typeface="Montserrat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000" b="1">
                <a:solidFill>
                  <a:srgbClr val="111827"/>
                </a:solidFill>
                <a:latin typeface="Montserrat"/>
              </a:rPr>
              <a:t>Join the pilot</a:t>
            </a:r>
          </a:p>
        </p:txBody>
      </p:sp>
      <p:pic>
        <p:nvPicPr>
          <p:cNvPr id="5" name="Picture 4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263640"/>
            <a:ext cx="1598519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637215" y="62362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40"/>
              </a:spcAft>
            </a:pPr>
            <a:r>
              <a:rPr sz="1100" b="0">
                <a:solidFill>
                  <a:srgbClr val="4B5563"/>
                </a:solidFill>
                <a:latin typeface="Montserrat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454298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345429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Testnet alpha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46120"/>
            <a:ext cx="3454298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Run real lanes end to end with test funds. No money at risk; your feedback shapes the screens.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2194560"/>
            <a:ext cx="3454298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68698" y="2377440"/>
            <a:ext cx="345429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Mainnet pilot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68698" y="3246120"/>
            <a:ext cx="3454298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Real payments with a cap on shipment value, after an external audit of the contracts.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97316" y="2194560"/>
            <a:ext cx="3454298" cy="54864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7316" y="2377440"/>
            <a:ext cx="345429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40"/>
              </a:spcAft>
            </a:pPr>
            <a:r>
              <a:rPr sz="1600" b="1">
                <a:solidFill>
                  <a:srgbClr val="111827"/>
                </a:solidFill>
                <a:latin typeface="Montserrat"/>
              </a:rPr>
              <a:t>What we need from 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7316" y="3246120"/>
            <a:ext cx="3454298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</a:pPr>
            <a:r>
              <a:rPr sz="1300" b="0">
                <a:solidFill>
                  <a:srgbClr val="4B5563"/>
                </a:solidFill>
                <a:latin typeface="Montserrat"/>
              </a:rPr>
              <a:t>A lane or two, a GajuDesk or GajuMobile wallet, and regular, honest feedback.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120640"/>
            <a:ext cx="10911535" cy="82296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303520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20"/>
              </a:spcAft>
            </a:pPr>
            <a:r>
              <a:rPr sz="1800" b="1">
                <a:solidFill>
                  <a:srgbClr val="FFFFFF"/>
                </a:solidFill>
                <a:latin typeface="Montserrat"/>
              </a:rPr>
              <a:t>Contact details to add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