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GajuFreight agrees the price, locks the money and pays it out as the goods move, with proof at every step. Nobody has to trust anybody's spreadsheet, including ours.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which of these they've lived through this quarter. The common thread: money and proof live in different places, so someone always carries the risk.</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step is signed by the party taking it, in their own wallet. GajuFreight builds the transaction; it never holds keys or money.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slide to leave up during questions. Each GajuFreight cell is enforced by the contract, not by a promise in a terms page.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shipper pays exactly the agreed price: the forwarder pays the platform fee when it confirms the booking, and refunds carry no fee.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You pay GajuFreight's fee once, when you confirm the booking, and your payouts carry no fee: see Pricing.</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Gajumaru is a public blockchain. The contracts are small, open source and will be externally audited before any real money flows. Verified businesses carry a badge anyone can check, and a company proves who it is to the customers it chooses, without its name going on the public ledger. Disputes go to verified arbiters that both sides shape, paid for voting whichever way they rule; the raiser stakes a small deposit, and the consignee never pays to report a problem.</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this upfront: agreed terms are public so both sides can rely on them later. A competitor reading the ledger could see lanes, volumes and prices, but never who the parties are or what the documents say.</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Network fees are about 0.0002 Gaju per action, so a whole shipment with two legs costs about 0.005 Gaju in network fees, shared between the parties. Prices and payments are in Gaju (木) for now; other currencies are out of scope for the pilot. The fee starts at 1% with a 1 Gaju minimum; both are set by GajuFreight's admin vote and can change, but a shipment keeps the settings in force when its quotes were requested. The 10% limit is fixed in the contract: no vote can raise the rate above it, and it overrides the minimum.</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We're looking for a handful of shippers and forwarders with real lanes to shape the product. The testnet stage uses no real money.</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20040" cy="6858000"/>
          </a:xfrm>
          <a:prstGeom prst="rect">
            <a:avLst/>
          </a:prstGeom>
          <a:solidFill>
            <a:srgbClr val="FF57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horizontal.png"/>
          <p:cNvPicPr>
            <a:picLocks noChangeAspect="1"/>
          </p:cNvPicPr>
          <p:nvPr/>
        </p:nvPicPr>
        <p:blipFill>
          <a:blip r:embed="rId2"/>
          <a:stretch>
            <a:fillRect/>
          </a:stretch>
        </p:blipFill>
        <p:spPr>
          <a:xfrm>
            <a:off x="1097280" y="1280160"/>
            <a:ext cx="4262718" cy="731520"/>
          </a:xfrm>
          <a:prstGeom prst="rect">
            <a:avLst/>
          </a:prstGeom>
        </p:spPr>
      </p:pic>
      <p:sp>
        <p:nvSpPr>
          <p:cNvPr id="4" name="TextBox 3"/>
          <p:cNvSpPr txBox="1"/>
          <p:nvPr/>
        </p:nvSpPr>
        <p:spPr>
          <a:xfrm>
            <a:off x="1097280" y="2651760"/>
            <a:ext cx="10515600" cy="1280160"/>
          </a:xfrm>
          <a:prstGeom prst="rect">
            <a:avLst/>
          </a:prstGeom>
          <a:noFill/>
        </p:spPr>
        <p:txBody>
          <a:bodyPr wrap="square">
            <a:spAutoFit/>
          </a:bodyPr>
          <a:lstStyle/>
          <a:p>
            <a:pPr algn="l">
              <a:spcAft>
                <a:spcPts val="1760"/>
              </a:spcAft>
            </a:pPr>
            <a:r>
              <a:rPr sz="4400" b="1">
                <a:solidFill>
                  <a:srgbClr val="111827"/>
                </a:solidFill>
                <a:latin typeface="Montserrat"/>
              </a:rPr>
              <a:t>Freight paid as it moves</a:t>
            </a:r>
          </a:p>
        </p:txBody>
      </p:sp>
      <p:sp>
        <p:nvSpPr>
          <p:cNvPr id="5" name="TextBox 4"/>
          <p:cNvSpPr txBox="1"/>
          <p:nvPr/>
        </p:nvSpPr>
        <p:spPr>
          <a:xfrm>
            <a:off x="1097280" y="3840480"/>
            <a:ext cx="9144000" cy="914400"/>
          </a:xfrm>
          <a:prstGeom prst="rect">
            <a:avLst/>
          </a:prstGeom>
          <a:noFill/>
        </p:spPr>
        <p:txBody>
          <a:bodyPr wrap="square">
            <a:spAutoFit/>
          </a:bodyPr>
          <a:lstStyle/>
          <a:p>
            <a:pPr algn="l">
              <a:spcAft>
                <a:spcPts val="880"/>
              </a:spcAft>
            </a:pPr>
            <a:r>
              <a:rPr sz="2200" b="0">
                <a:solidFill>
                  <a:srgbClr val="4B5563"/>
                </a:solidFill>
                <a:latin typeface="Montserrat"/>
              </a:rPr>
              <a:t>Escrow-backed shipping payments for shippers, forwarders and carriers</a:t>
            </a:r>
          </a:p>
        </p:txBody>
      </p:sp>
      <p:sp>
        <p:nvSpPr>
          <p:cNvPr id="6" name="TextBox 5"/>
          <p:cNvSpPr txBox="1"/>
          <p:nvPr/>
        </p:nvSpPr>
        <p:spPr>
          <a:xfrm>
            <a:off x="1097280" y="5760720"/>
            <a:ext cx="9144000" cy="457200"/>
          </a:xfrm>
          <a:prstGeom prst="rect">
            <a:avLst/>
          </a:prstGeom>
          <a:noFill/>
        </p:spPr>
        <p:txBody>
          <a:bodyPr wrap="square">
            <a:spAutoFit/>
          </a:bodyPr>
          <a:lstStyle/>
          <a:p>
            <a:pPr algn="l">
              <a:spcAft>
                <a:spcPts val="560"/>
              </a:spcAft>
            </a:pPr>
            <a:r>
              <a:rPr sz="1400" b="1">
                <a:solidFill>
                  <a:srgbClr val="C2410C"/>
                </a:solidFill>
                <a:latin typeface="Montserrat"/>
              </a:rPr>
              <a:t>Pilot programme ·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640080" y="502920"/>
            <a:ext cx="822960" cy="73152"/>
          </a:xfrm>
          <a:prstGeom prst="rect">
            <a:avLst/>
          </a:prstGeom>
          <a:solidFill>
            <a:srgbClr val="FF57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685800"/>
            <a:ext cx="10058400" cy="365760"/>
          </a:xfrm>
          <a:prstGeom prst="rect">
            <a:avLst/>
          </a:prstGeom>
          <a:noFill/>
        </p:spPr>
        <p:txBody>
          <a:bodyPr wrap="square">
            <a:spAutoFit/>
          </a:bodyPr>
          <a:lstStyle/>
          <a:p>
            <a:pPr algn="l">
              <a:spcAft>
                <a:spcPts val="480"/>
              </a:spcAft>
            </a:pPr>
            <a:r>
              <a:rPr sz="1200" b="1">
                <a:solidFill>
                  <a:srgbClr val="C2410C"/>
                </a:solidFill>
                <a:latin typeface="Montserrat"/>
              </a:rPr>
              <a:t>THE PROBLEM</a:t>
            </a:r>
          </a:p>
        </p:txBody>
      </p:sp>
      <p:sp>
        <p:nvSpPr>
          <p:cNvPr id="4" name="TextBox 3"/>
          <p:cNvSpPr txBox="1"/>
          <p:nvPr/>
        </p:nvSpPr>
        <p:spPr>
          <a:xfrm>
            <a:off x="640080" y="1005840"/>
            <a:ext cx="10881360" cy="1097280"/>
          </a:xfrm>
          <a:prstGeom prst="rect">
            <a:avLst/>
          </a:prstGeom>
          <a:noFill/>
        </p:spPr>
        <p:txBody>
          <a:bodyPr wrap="square">
            <a:spAutoFit/>
          </a:bodyPr>
          <a:lstStyle/>
          <a:p>
            <a:pPr algn="l">
              <a:spcAft>
                <a:spcPts val="1200"/>
              </a:spcAft>
            </a:pPr>
            <a:r>
              <a:rPr sz="3000" b="1">
                <a:solidFill>
                  <a:srgbClr val="111827"/>
                </a:solidFill>
                <a:latin typeface="Montserrat"/>
              </a:rPr>
              <a:t>Freight payment runs on trust that nobody can check</a:t>
            </a:r>
          </a:p>
        </p:txBody>
      </p:sp>
      <p:pic>
        <p:nvPicPr>
          <p:cNvPr id="5" name="Picture 4" descr="logo-horizontal.png"/>
          <p:cNvPicPr>
            <a:picLocks noChangeAspect="1"/>
          </p:cNvPicPr>
          <p:nvPr/>
        </p:nvPicPr>
        <p:blipFill>
          <a:blip r:embed="rId2"/>
          <a:stretch>
            <a:fillRect/>
          </a:stretch>
        </p:blipFill>
        <p:spPr>
          <a:xfrm>
            <a:off x="640080" y="6263640"/>
            <a:ext cx="1598519" cy="274320"/>
          </a:xfrm>
          <a:prstGeom prst="rect">
            <a:avLst/>
          </a:prstGeom>
        </p:spPr>
      </p:pic>
      <p:sp>
        <p:nvSpPr>
          <p:cNvPr id="6" name="TextBox 5"/>
          <p:cNvSpPr txBox="1"/>
          <p:nvPr/>
        </p:nvSpPr>
        <p:spPr>
          <a:xfrm>
            <a:off x="10637215" y="6236208"/>
            <a:ext cx="914400" cy="365760"/>
          </a:xfrm>
          <a:prstGeom prst="rect">
            <a:avLst/>
          </a:prstGeom>
          <a:noFill/>
        </p:spPr>
        <p:txBody>
          <a:bodyPr wrap="square">
            <a:spAutoFit/>
          </a:bodyPr>
          <a:lstStyle/>
          <a:p>
            <a:pPr algn="r">
              <a:spcAft>
                <a:spcPts val="440"/>
              </a:spcAft>
            </a:pPr>
            <a:r>
              <a:rPr sz="1100" b="0">
                <a:solidFill>
                  <a:srgbClr val="4B5563"/>
                </a:solidFill>
                <a:latin typeface="Montserrat"/>
              </a:rPr>
              <a:t>2</a:t>
            </a:r>
          </a:p>
        </p:txBody>
      </p:sp>
      <p:sp>
        <p:nvSpPr>
          <p:cNvPr id="7" name="Rectangle 6"/>
          <p:cNvSpPr/>
          <p:nvPr/>
        </p:nvSpPr>
        <p:spPr>
          <a:xfrm>
            <a:off x="640080" y="2377440"/>
            <a:ext cx="2522143" cy="54864"/>
          </a:xfrm>
          <a:prstGeom prst="rect">
            <a:avLst/>
          </a:prstGeom>
          <a:solidFill>
            <a:srgbClr val="1118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2560320"/>
            <a:ext cx="2522143" cy="822960"/>
          </a:xfrm>
          <a:prstGeom prst="rect">
            <a:avLst/>
          </a:prstGeom>
          <a:noFill/>
        </p:spPr>
        <p:txBody>
          <a:bodyPr wrap="square">
            <a:spAutoFit/>
          </a:bodyPr>
          <a:lstStyle/>
          <a:p>
            <a:pPr algn="l">
              <a:spcAft>
                <a:spcPts val="640"/>
              </a:spcAft>
            </a:pPr>
            <a:r>
              <a:rPr sz="1600" b="1">
                <a:solidFill>
                  <a:srgbClr val="111827"/>
                </a:solidFill>
                <a:latin typeface="Montserrat"/>
              </a:rPr>
              <a:t>Shippers pay blind</a:t>
            </a:r>
          </a:p>
        </p:txBody>
      </p:sp>
      <p:sp>
        <p:nvSpPr>
          <p:cNvPr id="9" name="TextBox 8"/>
          <p:cNvSpPr txBox="1"/>
          <p:nvPr/>
        </p:nvSpPr>
        <p:spPr>
          <a:xfrm>
            <a:off x="640080" y="3429000"/>
            <a:ext cx="2522143" cy="2240280"/>
          </a:xfrm>
          <a:prstGeom prst="rect">
            <a:avLst/>
          </a:prstGeom>
          <a:noFill/>
        </p:spPr>
        <p:txBody>
          <a:bodyPr wrap="square">
            <a:spAutoFit/>
          </a:bodyPr>
          <a:lstStyle/>
          <a:p>
            <a:pPr algn="l">
              <a:spcAft>
                <a:spcPts val="520"/>
              </a:spcAft>
            </a:pPr>
            <a:r>
              <a:rPr sz="1300" b="0">
                <a:solidFill>
                  <a:srgbClr val="4B5563"/>
                </a:solidFill>
                <a:latin typeface="Montserrat"/>
              </a:rPr>
              <a:t>Paying up front, or on invoice, with little proof of where the goods are or whether milestones were met.</a:t>
            </a:r>
          </a:p>
        </p:txBody>
      </p:sp>
      <p:sp>
        <p:nvSpPr>
          <p:cNvPr id="10" name="Rectangle 9"/>
          <p:cNvSpPr/>
          <p:nvPr/>
        </p:nvSpPr>
        <p:spPr>
          <a:xfrm>
            <a:off x="3436543" y="2377440"/>
            <a:ext cx="2522143" cy="54864"/>
          </a:xfrm>
          <a:prstGeom prst="rect">
            <a:avLst/>
          </a:prstGeom>
          <a:solidFill>
            <a:srgbClr val="1118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436543" y="2560320"/>
            <a:ext cx="2522143" cy="822960"/>
          </a:xfrm>
          <a:prstGeom prst="rect">
            <a:avLst/>
          </a:prstGeom>
          <a:noFill/>
        </p:spPr>
        <p:txBody>
          <a:bodyPr wrap="square">
            <a:spAutoFit/>
          </a:bodyPr>
          <a:lstStyle/>
          <a:p>
            <a:pPr algn="l">
              <a:spcAft>
                <a:spcPts val="640"/>
              </a:spcAft>
            </a:pPr>
            <a:r>
              <a:rPr sz="1600" b="1">
                <a:solidFill>
                  <a:srgbClr val="111827"/>
                </a:solidFill>
                <a:latin typeface="Montserrat"/>
              </a:rPr>
              <a:t>Forwarders wait</a:t>
            </a:r>
          </a:p>
        </p:txBody>
      </p:sp>
      <p:sp>
        <p:nvSpPr>
          <p:cNvPr id="12" name="TextBox 11"/>
          <p:cNvSpPr txBox="1"/>
          <p:nvPr/>
        </p:nvSpPr>
        <p:spPr>
          <a:xfrm>
            <a:off x="3436543" y="3429000"/>
            <a:ext cx="2522143" cy="2240280"/>
          </a:xfrm>
          <a:prstGeom prst="rect">
            <a:avLst/>
          </a:prstGeom>
          <a:noFill/>
        </p:spPr>
        <p:txBody>
          <a:bodyPr wrap="square">
            <a:spAutoFit/>
          </a:bodyPr>
          <a:lstStyle/>
          <a:p>
            <a:pPr algn="l">
              <a:spcAft>
                <a:spcPts val="520"/>
              </a:spcAft>
            </a:pPr>
            <a:r>
              <a:rPr sz="1300" b="0">
                <a:solidFill>
                  <a:srgbClr val="4B5563"/>
                </a:solidFill>
                <a:latin typeface="Montserrat"/>
              </a:rPr>
              <a:t>Forwarders and carriers often fund the move themselves and wait weeks after delivery to be paid.</a:t>
            </a:r>
          </a:p>
        </p:txBody>
      </p:sp>
      <p:sp>
        <p:nvSpPr>
          <p:cNvPr id="13" name="Rectangle 12"/>
          <p:cNvSpPr/>
          <p:nvPr/>
        </p:nvSpPr>
        <p:spPr>
          <a:xfrm>
            <a:off x="6233006" y="2377440"/>
            <a:ext cx="2522143" cy="54864"/>
          </a:xfrm>
          <a:prstGeom prst="rect">
            <a:avLst/>
          </a:prstGeom>
          <a:solidFill>
            <a:srgbClr val="1118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33006" y="2560320"/>
            <a:ext cx="2522143" cy="822960"/>
          </a:xfrm>
          <a:prstGeom prst="rect">
            <a:avLst/>
          </a:prstGeom>
          <a:noFill/>
        </p:spPr>
        <p:txBody>
          <a:bodyPr wrap="square">
            <a:spAutoFit/>
          </a:bodyPr>
          <a:lstStyle/>
          <a:p>
            <a:pPr algn="l">
              <a:spcAft>
                <a:spcPts val="640"/>
              </a:spcAft>
            </a:pPr>
            <a:r>
              <a:rPr sz="1600" b="1">
                <a:solidFill>
                  <a:srgbClr val="111827"/>
                </a:solidFill>
                <a:latin typeface="Montserrat"/>
              </a:rPr>
              <a:t>Status is scattered</a:t>
            </a:r>
          </a:p>
        </p:txBody>
      </p:sp>
      <p:sp>
        <p:nvSpPr>
          <p:cNvPr id="15" name="TextBox 14"/>
          <p:cNvSpPr txBox="1"/>
          <p:nvPr/>
        </p:nvSpPr>
        <p:spPr>
          <a:xfrm>
            <a:off x="6233006" y="3429000"/>
            <a:ext cx="2522143" cy="2240280"/>
          </a:xfrm>
          <a:prstGeom prst="rect">
            <a:avLst/>
          </a:prstGeom>
          <a:noFill/>
        </p:spPr>
        <p:txBody>
          <a:bodyPr wrap="square">
            <a:spAutoFit/>
          </a:bodyPr>
          <a:lstStyle/>
          <a:p>
            <a:pPr algn="l">
              <a:spcAft>
                <a:spcPts val="520"/>
              </a:spcAft>
            </a:pPr>
            <a:r>
              <a:rPr sz="1300" b="0">
                <a:solidFill>
                  <a:srgbClr val="4B5563"/>
                </a:solidFill>
                <a:latin typeface="Montserrat"/>
              </a:rPr>
              <a:t>Updates arrive by email, portal and phone call, and each party holds a different version of the truth.</a:t>
            </a:r>
          </a:p>
        </p:txBody>
      </p:sp>
      <p:sp>
        <p:nvSpPr>
          <p:cNvPr id="16" name="Rectangle 15"/>
          <p:cNvSpPr/>
          <p:nvPr/>
        </p:nvSpPr>
        <p:spPr>
          <a:xfrm>
            <a:off x="9029469" y="2377440"/>
            <a:ext cx="2522143" cy="54864"/>
          </a:xfrm>
          <a:prstGeom prst="rect">
            <a:avLst/>
          </a:prstGeom>
          <a:solidFill>
            <a:srgbClr val="1118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029469" y="2560320"/>
            <a:ext cx="2522143" cy="822960"/>
          </a:xfrm>
          <a:prstGeom prst="rect">
            <a:avLst/>
          </a:prstGeom>
          <a:noFill/>
        </p:spPr>
        <p:txBody>
          <a:bodyPr wrap="square">
            <a:spAutoFit/>
          </a:bodyPr>
          <a:lstStyle/>
          <a:p>
            <a:pPr algn="l">
              <a:spcAft>
                <a:spcPts val="640"/>
              </a:spcAft>
            </a:pPr>
            <a:r>
              <a:rPr sz="1600" b="1">
                <a:solidFill>
                  <a:srgbClr val="111827"/>
                </a:solidFill>
                <a:latin typeface="Montserrat"/>
              </a:rPr>
              <a:t>Disputes drag on</a:t>
            </a:r>
          </a:p>
        </p:txBody>
      </p:sp>
      <p:sp>
        <p:nvSpPr>
          <p:cNvPr id="18" name="TextBox 17"/>
          <p:cNvSpPr txBox="1"/>
          <p:nvPr/>
        </p:nvSpPr>
        <p:spPr>
          <a:xfrm>
            <a:off x="9029469" y="3429000"/>
            <a:ext cx="2522143" cy="2240280"/>
          </a:xfrm>
          <a:prstGeom prst="rect">
            <a:avLst/>
          </a:prstGeom>
          <a:noFill/>
        </p:spPr>
        <p:txBody>
          <a:bodyPr wrap="square">
            <a:spAutoFit/>
          </a:bodyPr>
          <a:lstStyle/>
          <a:p>
            <a:pPr algn="l">
              <a:spcAft>
                <a:spcPts val="520"/>
              </a:spcAft>
            </a:pPr>
            <a:r>
              <a:rPr sz="1300" b="0">
                <a:solidFill>
                  <a:srgbClr val="4B5563"/>
                </a:solidFill>
                <a:latin typeface="Montserrat"/>
              </a:rPr>
              <a:t>With no shared record, a missing pallet becomes weeks of emails, withheld payments and sometimes lawyers.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640080" y="502920"/>
            <a:ext cx="822960" cy="73152"/>
          </a:xfrm>
          <a:prstGeom prst="rect">
            <a:avLst/>
          </a:prstGeom>
          <a:solidFill>
            <a:srgbClr val="FF57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685800"/>
            <a:ext cx="10058400" cy="365760"/>
          </a:xfrm>
          <a:prstGeom prst="rect">
            <a:avLst/>
          </a:prstGeom>
          <a:noFill/>
        </p:spPr>
        <p:txBody>
          <a:bodyPr wrap="square">
            <a:spAutoFit/>
          </a:bodyPr>
          <a:lstStyle/>
          <a:p>
            <a:pPr algn="l">
              <a:spcAft>
                <a:spcPts val="480"/>
              </a:spcAft>
            </a:pPr>
            <a:r>
              <a:rPr sz="1200" b="1">
                <a:solidFill>
                  <a:srgbClr val="C2410C"/>
                </a:solidFill>
                <a:latin typeface="Montserrat"/>
              </a:rPr>
              <a:t>HOW IT WORKS</a:t>
            </a:r>
          </a:p>
        </p:txBody>
      </p:sp>
      <p:sp>
        <p:nvSpPr>
          <p:cNvPr id="4" name="TextBox 3"/>
          <p:cNvSpPr txBox="1"/>
          <p:nvPr/>
        </p:nvSpPr>
        <p:spPr>
          <a:xfrm>
            <a:off x="640080" y="1005840"/>
            <a:ext cx="10881360" cy="1097280"/>
          </a:xfrm>
          <a:prstGeom prst="rect">
            <a:avLst/>
          </a:prstGeom>
          <a:noFill/>
        </p:spPr>
        <p:txBody>
          <a:bodyPr wrap="square">
            <a:spAutoFit/>
          </a:bodyPr>
          <a:lstStyle/>
          <a:p>
            <a:pPr algn="l">
              <a:spcAft>
                <a:spcPts val="1200"/>
              </a:spcAft>
            </a:pPr>
            <a:r>
              <a:rPr sz="3000" b="1">
                <a:solidFill>
                  <a:srgbClr val="111827"/>
                </a:solidFill>
                <a:latin typeface="Montserrat"/>
              </a:rPr>
              <a:t>The deal, the money and the proof, in one shared record</a:t>
            </a:r>
          </a:p>
        </p:txBody>
      </p:sp>
      <p:pic>
        <p:nvPicPr>
          <p:cNvPr id="5" name="Picture 4" descr="logo-horizontal.png"/>
          <p:cNvPicPr>
            <a:picLocks noChangeAspect="1"/>
          </p:cNvPicPr>
          <p:nvPr/>
        </p:nvPicPr>
        <p:blipFill>
          <a:blip r:embed="rId2"/>
          <a:stretch>
            <a:fillRect/>
          </a:stretch>
        </p:blipFill>
        <p:spPr>
          <a:xfrm>
            <a:off x="640080" y="6263640"/>
            <a:ext cx="1598519" cy="274320"/>
          </a:xfrm>
          <a:prstGeom prst="rect">
            <a:avLst/>
          </a:prstGeom>
        </p:spPr>
      </p:pic>
      <p:sp>
        <p:nvSpPr>
          <p:cNvPr id="6" name="TextBox 5"/>
          <p:cNvSpPr txBox="1"/>
          <p:nvPr/>
        </p:nvSpPr>
        <p:spPr>
          <a:xfrm>
            <a:off x="10637215" y="6236208"/>
            <a:ext cx="914400" cy="365760"/>
          </a:xfrm>
          <a:prstGeom prst="rect">
            <a:avLst/>
          </a:prstGeom>
          <a:noFill/>
        </p:spPr>
        <p:txBody>
          <a:bodyPr wrap="square">
            <a:spAutoFit/>
          </a:bodyPr>
          <a:lstStyle/>
          <a:p>
            <a:pPr algn="r">
              <a:spcAft>
                <a:spcPts val="440"/>
              </a:spcAft>
            </a:pPr>
            <a:r>
              <a:rPr sz="1100" b="0">
                <a:solidFill>
                  <a:srgbClr val="4B5563"/>
                </a:solidFill>
                <a:latin typeface="Montserrat"/>
              </a:rPr>
              <a:t>3</a:t>
            </a:r>
          </a:p>
        </p:txBody>
      </p:sp>
      <p:sp>
        <p:nvSpPr>
          <p:cNvPr id="7" name="Rectangle 6"/>
          <p:cNvSpPr/>
          <p:nvPr/>
        </p:nvSpPr>
        <p:spPr>
          <a:xfrm>
            <a:off x="640080" y="2377440"/>
            <a:ext cx="2522143" cy="54864"/>
          </a:xfrm>
          <a:prstGeom prst="rect">
            <a:avLst/>
          </a:prstGeom>
          <a:solidFill>
            <a:srgbClr val="1118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2560320"/>
            <a:ext cx="2522143" cy="822960"/>
          </a:xfrm>
          <a:prstGeom prst="rect">
            <a:avLst/>
          </a:prstGeom>
          <a:noFill/>
        </p:spPr>
        <p:txBody>
          <a:bodyPr wrap="square">
            <a:spAutoFit/>
          </a:bodyPr>
          <a:lstStyle/>
          <a:p>
            <a:pPr algn="l">
              <a:spcAft>
                <a:spcPts val="640"/>
              </a:spcAft>
            </a:pPr>
            <a:r>
              <a:rPr sz="1600" b="1">
                <a:solidFill>
                  <a:srgbClr val="111827"/>
                </a:solidFill>
                <a:latin typeface="Montserrat"/>
              </a:rPr>
              <a:t>1  Agree</a:t>
            </a:r>
          </a:p>
        </p:txBody>
      </p:sp>
      <p:sp>
        <p:nvSpPr>
          <p:cNvPr id="9" name="TextBox 8"/>
          <p:cNvSpPr txBox="1"/>
          <p:nvPr/>
        </p:nvSpPr>
        <p:spPr>
          <a:xfrm>
            <a:off x="640080" y="3429000"/>
            <a:ext cx="2522143" cy="2240280"/>
          </a:xfrm>
          <a:prstGeom prst="rect">
            <a:avLst/>
          </a:prstGeom>
          <a:noFill/>
        </p:spPr>
        <p:txBody>
          <a:bodyPr wrap="square">
            <a:spAutoFit/>
          </a:bodyPr>
          <a:lstStyle/>
          <a:p>
            <a:pPr algn="l">
              <a:spcAft>
                <a:spcPts val="520"/>
              </a:spcAft>
            </a:pPr>
            <a:r>
              <a:rPr sz="1300" b="0">
                <a:solidFill>
                  <a:srgbClr val="4B5563"/>
                </a:solidFill>
                <a:latin typeface="Montserrat"/>
              </a:rPr>
              <a:t>The shipper invites forwarders to quote on a stated Incoterm. Up to three counter offers, then the shipper accepts. Terms are fixed.</a:t>
            </a:r>
          </a:p>
        </p:txBody>
      </p:sp>
      <p:sp>
        <p:nvSpPr>
          <p:cNvPr id="10" name="Rectangle 9"/>
          <p:cNvSpPr/>
          <p:nvPr/>
        </p:nvSpPr>
        <p:spPr>
          <a:xfrm>
            <a:off x="3436543" y="2377440"/>
            <a:ext cx="2522143" cy="54864"/>
          </a:xfrm>
          <a:prstGeom prst="rect">
            <a:avLst/>
          </a:prstGeom>
          <a:solidFill>
            <a:srgbClr val="1118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436543" y="2560320"/>
            <a:ext cx="2522143" cy="822960"/>
          </a:xfrm>
          <a:prstGeom prst="rect">
            <a:avLst/>
          </a:prstGeom>
          <a:noFill/>
        </p:spPr>
        <p:txBody>
          <a:bodyPr wrap="square">
            <a:spAutoFit/>
          </a:bodyPr>
          <a:lstStyle/>
          <a:p>
            <a:pPr algn="l">
              <a:spcAft>
                <a:spcPts val="640"/>
              </a:spcAft>
            </a:pPr>
            <a:r>
              <a:rPr sz="1600" b="1">
                <a:solidFill>
                  <a:srgbClr val="111827"/>
                </a:solidFill>
                <a:latin typeface="Montserrat"/>
              </a:rPr>
              <a:t>2  Fund and confirm</a:t>
            </a:r>
          </a:p>
        </p:txBody>
      </p:sp>
      <p:sp>
        <p:nvSpPr>
          <p:cNvPr id="12" name="TextBox 11"/>
          <p:cNvSpPr txBox="1"/>
          <p:nvPr/>
        </p:nvSpPr>
        <p:spPr>
          <a:xfrm>
            <a:off x="3436543" y="3429000"/>
            <a:ext cx="2522143" cy="2240280"/>
          </a:xfrm>
          <a:prstGeom prst="rect">
            <a:avLst/>
          </a:prstGeom>
          <a:noFill/>
        </p:spPr>
        <p:txBody>
          <a:bodyPr wrap="square">
            <a:spAutoFit/>
          </a:bodyPr>
          <a:lstStyle/>
          <a:p>
            <a:pPr algn="l">
              <a:spcAft>
                <a:spcPts val="520"/>
              </a:spcAft>
            </a:pPr>
            <a:r>
              <a:rPr sz="1300" b="0">
                <a:solidFill>
                  <a:srgbClr val="4B5563"/>
                </a:solidFill>
                <a:latin typeface="Montserrat"/>
              </a:rPr>
              <a:t>One signature locks the agreed price in escrow. The forwarder confirms, paying the fee; until then the shipper can cancel.</a:t>
            </a:r>
          </a:p>
        </p:txBody>
      </p:sp>
      <p:sp>
        <p:nvSpPr>
          <p:cNvPr id="13" name="Rectangle 12"/>
          <p:cNvSpPr/>
          <p:nvPr/>
        </p:nvSpPr>
        <p:spPr>
          <a:xfrm>
            <a:off x="6233006" y="2377440"/>
            <a:ext cx="2522143" cy="54864"/>
          </a:xfrm>
          <a:prstGeom prst="rect">
            <a:avLst/>
          </a:prstGeom>
          <a:solidFill>
            <a:srgbClr val="1118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33006" y="2560320"/>
            <a:ext cx="2522143" cy="822960"/>
          </a:xfrm>
          <a:prstGeom prst="rect">
            <a:avLst/>
          </a:prstGeom>
          <a:noFill/>
        </p:spPr>
        <p:txBody>
          <a:bodyPr wrap="square">
            <a:spAutoFit/>
          </a:bodyPr>
          <a:lstStyle/>
          <a:p>
            <a:pPr algn="l">
              <a:spcAft>
                <a:spcPts val="640"/>
              </a:spcAft>
            </a:pPr>
            <a:r>
              <a:rPr sz="1600" b="1">
                <a:solidFill>
                  <a:srgbClr val="111827"/>
                </a:solidFill>
                <a:latin typeface="Montserrat"/>
              </a:rPr>
              <a:t>3  Move</a:t>
            </a:r>
          </a:p>
        </p:txBody>
      </p:sp>
      <p:sp>
        <p:nvSpPr>
          <p:cNvPr id="15" name="TextBox 14"/>
          <p:cNvSpPr txBox="1"/>
          <p:nvPr/>
        </p:nvSpPr>
        <p:spPr>
          <a:xfrm>
            <a:off x="6233006" y="3429000"/>
            <a:ext cx="2522143" cy="2240280"/>
          </a:xfrm>
          <a:prstGeom prst="rect">
            <a:avLst/>
          </a:prstGeom>
          <a:noFill/>
        </p:spPr>
        <p:txBody>
          <a:bodyPr wrap="square">
            <a:spAutoFit/>
          </a:bodyPr>
          <a:lstStyle/>
          <a:p>
            <a:pPr algn="l">
              <a:spcAft>
                <a:spcPts val="520"/>
              </a:spcAft>
            </a:pPr>
            <a:r>
              <a:rPr sz="1300" b="0">
                <a:solidFill>
                  <a:srgbClr val="4B5563"/>
                </a:solidFill>
                <a:latin typeface="Montserrat"/>
              </a:rPr>
              <a:t>Named port agents and carriers scan custody at each milestone. Each scan pays that milestone.</a:t>
            </a:r>
          </a:p>
        </p:txBody>
      </p:sp>
      <p:sp>
        <p:nvSpPr>
          <p:cNvPr id="16" name="Rectangle 15"/>
          <p:cNvSpPr/>
          <p:nvPr/>
        </p:nvSpPr>
        <p:spPr>
          <a:xfrm>
            <a:off x="9029469" y="2377440"/>
            <a:ext cx="2522143" cy="54864"/>
          </a:xfrm>
          <a:prstGeom prst="rect">
            <a:avLst/>
          </a:prstGeom>
          <a:solidFill>
            <a:srgbClr val="1118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029469" y="2560320"/>
            <a:ext cx="2522143" cy="822960"/>
          </a:xfrm>
          <a:prstGeom prst="rect">
            <a:avLst/>
          </a:prstGeom>
          <a:noFill/>
        </p:spPr>
        <p:txBody>
          <a:bodyPr wrap="square">
            <a:spAutoFit/>
          </a:bodyPr>
          <a:lstStyle/>
          <a:p>
            <a:pPr algn="l">
              <a:spcAft>
                <a:spcPts val="640"/>
              </a:spcAft>
            </a:pPr>
            <a:r>
              <a:rPr sz="1600" b="1">
                <a:solidFill>
                  <a:srgbClr val="111827"/>
                </a:solidFill>
                <a:latin typeface="Montserrat"/>
              </a:rPr>
              <a:t>4  Settle</a:t>
            </a:r>
          </a:p>
        </p:txBody>
      </p:sp>
      <p:sp>
        <p:nvSpPr>
          <p:cNvPr id="18" name="TextBox 17"/>
          <p:cNvSpPr txBox="1"/>
          <p:nvPr/>
        </p:nvSpPr>
        <p:spPr>
          <a:xfrm>
            <a:off x="9029469" y="3429000"/>
            <a:ext cx="2522143" cy="2240280"/>
          </a:xfrm>
          <a:prstGeom prst="rect">
            <a:avLst/>
          </a:prstGeom>
          <a:noFill/>
        </p:spPr>
        <p:txBody>
          <a:bodyPr wrap="square">
            <a:spAutoFit/>
          </a:bodyPr>
          <a:lstStyle/>
          <a:p>
            <a:pPr algn="l">
              <a:spcAft>
                <a:spcPts val="520"/>
              </a:spcAft>
            </a:pPr>
            <a:r>
              <a:rPr sz="1300" b="0">
                <a:solidFill>
                  <a:srgbClr val="4B5563"/>
                </a:solidFill>
                <a:latin typeface="Montserrat"/>
              </a:rPr>
              <a:t>Proven delivery releases the rest. Missed deadline: the shipper is refunded. Dispute: verified arbiters decide.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640080" y="502920"/>
            <a:ext cx="822960" cy="73152"/>
          </a:xfrm>
          <a:prstGeom prst="rect">
            <a:avLst/>
          </a:prstGeom>
          <a:solidFill>
            <a:srgbClr val="FF57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685800"/>
            <a:ext cx="10058400" cy="365760"/>
          </a:xfrm>
          <a:prstGeom prst="rect">
            <a:avLst/>
          </a:prstGeom>
          <a:noFill/>
        </p:spPr>
        <p:txBody>
          <a:bodyPr wrap="square">
            <a:spAutoFit/>
          </a:bodyPr>
          <a:lstStyle/>
          <a:p>
            <a:pPr algn="l">
              <a:spcAft>
                <a:spcPts val="480"/>
              </a:spcAft>
            </a:pPr>
            <a:r>
              <a:rPr sz="1200" b="1">
                <a:solidFill>
                  <a:srgbClr val="C2410C"/>
                </a:solidFill>
                <a:latin typeface="Montserrat"/>
              </a:rPr>
              <a:t>WHY SWITCH</a:t>
            </a:r>
          </a:p>
        </p:txBody>
      </p:sp>
      <p:sp>
        <p:nvSpPr>
          <p:cNvPr id="4" name="TextBox 3"/>
          <p:cNvSpPr txBox="1"/>
          <p:nvPr/>
        </p:nvSpPr>
        <p:spPr>
          <a:xfrm>
            <a:off x="640080" y="1005840"/>
            <a:ext cx="10881360" cy="1097280"/>
          </a:xfrm>
          <a:prstGeom prst="rect">
            <a:avLst/>
          </a:prstGeom>
          <a:noFill/>
        </p:spPr>
        <p:txBody>
          <a:bodyPr wrap="square">
            <a:spAutoFit/>
          </a:bodyPr>
          <a:lstStyle/>
          <a:p>
            <a:pPr algn="l">
              <a:spcAft>
                <a:spcPts val="1200"/>
              </a:spcAft>
            </a:pPr>
            <a:r>
              <a:rPr sz="3000" b="1">
                <a:solidFill>
                  <a:srgbClr val="111827"/>
                </a:solidFill>
                <a:latin typeface="Montserrat"/>
              </a:rPr>
              <a:t>Traditional freight payment and GajuFreight, side by side</a:t>
            </a:r>
          </a:p>
        </p:txBody>
      </p:sp>
      <p:pic>
        <p:nvPicPr>
          <p:cNvPr id="5" name="Picture 4" descr="logo-horizontal.png"/>
          <p:cNvPicPr>
            <a:picLocks noChangeAspect="1"/>
          </p:cNvPicPr>
          <p:nvPr/>
        </p:nvPicPr>
        <p:blipFill>
          <a:blip r:embed="rId2"/>
          <a:stretch>
            <a:fillRect/>
          </a:stretch>
        </p:blipFill>
        <p:spPr>
          <a:xfrm>
            <a:off x="640080" y="6263640"/>
            <a:ext cx="1598519" cy="274320"/>
          </a:xfrm>
          <a:prstGeom prst="rect">
            <a:avLst/>
          </a:prstGeom>
        </p:spPr>
      </p:pic>
      <p:sp>
        <p:nvSpPr>
          <p:cNvPr id="6" name="TextBox 5"/>
          <p:cNvSpPr txBox="1"/>
          <p:nvPr/>
        </p:nvSpPr>
        <p:spPr>
          <a:xfrm>
            <a:off x="10637215" y="6236208"/>
            <a:ext cx="914400" cy="365760"/>
          </a:xfrm>
          <a:prstGeom prst="rect">
            <a:avLst/>
          </a:prstGeom>
          <a:noFill/>
        </p:spPr>
        <p:txBody>
          <a:bodyPr wrap="square">
            <a:spAutoFit/>
          </a:bodyPr>
          <a:lstStyle/>
          <a:p>
            <a:pPr algn="r">
              <a:spcAft>
                <a:spcPts val="440"/>
              </a:spcAft>
            </a:pPr>
            <a:r>
              <a:rPr sz="1100" b="0">
                <a:solidFill>
                  <a:srgbClr val="4B5563"/>
                </a:solidFill>
                <a:latin typeface="Montserrat"/>
              </a:rPr>
              <a:t>4</a:t>
            </a:r>
          </a:p>
        </p:txBody>
      </p:sp>
      <p:graphicFrame>
        <p:nvGraphicFramePr>
          <p:cNvPr id="7" name="Table 6"/>
          <p:cNvGraphicFramePr>
            <a:graphicFrameLocks noGrp="1"/>
          </p:cNvGraphicFramePr>
          <p:nvPr/>
        </p:nvGraphicFramePr>
        <p:xfrm>
          <a:off x="640080" y="2103120"/>
          <a:ext cx="10911535" cy="3840480"/>
        </p:xfrm>
        <a:graphic>
          <a:graphicData uri="http://schemas.openxmlformats.org/drawingml/2006/table">
            <a:tbl>
              <a:tblPr firstRow="1" bandRow="1">
                <a:tableStyleId>{5C22544A-7EE6-4342-B048-85BDC9FD1C3A}</a:tableStyleId>
              </a:tblPr>
              <a:tblGrid>
                <a:gridCol w="2377440"/>
                <a:gridCol w="3931920"/>
                <a:gridCol w="4602175"/>
              </a:tblGrid>
              <a:tr h="426720">
                <a:tc>
                  <a:txBody>
                    <a:bodyPr/>
                    <a:lstStyle/>
                    <a:p>
                      <a:r>
                        <a:rPr sz="1300" b="1">
                          <a:solidFill>
                            <a:srgbClr val="FFFFFF"/>
                          </a:solidFill>
                          <a:latin typeface="Montserrat"/>
                        </a:rPr>
                        <a:t/>
                      </a:r>
                    </a:p>
                  </a:txBody>
                  <a:tcPr anchor="ctr">
                    <a:solidFill>
                      <a:srgbClr val="111827"/>
                    </a:solidFill>
                  </a:tcPr>
                </a:tc>
                <a:tc>
                  <a:txBody>
                    <a:bodyPr/>
                    <a:lstStyle/>
                    <a:p>
                      <a:r>
                        <a:rPr sz="1300" b="1">
                          <a:solidFill>
                            <a:srgbClr val="FFFFFF"/>
                          </a:solidFill>
                          <a:latin typeface="Montserrat"/>
                        </a:rPr>
                        <a:t>Traditional</a:t>
                      </a:r>
                    </a:p>
                  </a:txBody>
                  <a:tcPr anchor="ctr">
                    <a:solidFill>
                      <a:srgbClr val="111827"/>
                    </a:solidFill>
                  </a:tcPr>
                </a:tc>
                <a:tc>
                  <a:txBody>
                    <a:bodyPr/>
                    <a:lstStyle/>
                    <a:p>
                      <a:r>
                        <a:rPr sz="1300" b="1">
                          <a:solidFill>
                            <a:srgbClr val="FFFFFF"/>
                          </a:solidFill>
                          <a:latin typeface="Montserrat"/>
                        </a:rPr>
                        <a:t>GajuFreight</a:t>
                      </a:r>
                    </a:p>
                  </a:txBody>
                  <a:tcPr anchor="ctr">
                    <a:solidFill>
                      <a:srgbClr val="111827"/>
                    </a:solidFill>
                  </a:tcPr>
                </a:tc>
              </a:tr>
              <a:tr h="426720">
                <a:tc>
                  <a:txBody>
                    <a:bodyPr/>
                    <a:lstStyle/>
                    <a:p>
                      <a:r>
                        <a:rPr sz="1200" b="1">
                          <a:solidFill>
                            <a:srgbClr val="111827"/>
                          </a:solidFill>
                          <a:latin typeface="Montserrat"/>
                        </a:rPr>
                        <a:t>Agreeing a price</a:t>
                      </a:r>
                    </a:p>
                  </a:txBody>
                  <a:tcPr anchor="ctr">
                    <a:solidFill>
                      <a:srgbClr val="FFFFFF"/>
                    </a:solidFill>
                  </a:tcPr>
                </a:tc>
                <a:tc>
                  <a:txBody>
                    <a:bodyPr/>
                    <a:lstStyle/>
                    <a:p>
                      <a:r>
                        <a:rPr sz="1200" b="0">
                          <a:solidFill>
                            <a:srgbClr val="4B5563"/>
                          </a:solidFill>
                          <a:latin typeface="Montserrat"/>
                        </a:rPr>
                        <a:t>Emails, PDFs and phone calls</a:t>
                      </a:r>
                    </a:p>
                  </a:txBody>
                  <a:tcPr anchor="ctr">
                    <a:solidFill>
                      <a:srgbClr val="FFFFFF"/>
                    </a:solidFill>
                  </a:tcPr>
                </a:tc>
                <a:tc>
                  <a:txBody>
                    <a:bodyPr/>
                    <a:lstStyle/>
                    <a:p>
                      <a:r>
                        <a:rPr sz="1200" b="0">
                          <a:solidFill>
                            <a:srgbClr val="111827"/>
                          </a:solidFill>
                          <a:latin typeface="Montserrat"/>
                        </a:rPr>
                        <a:t>Quotes and counters recorded; accepted terms can't change</a:t>
                      </a:r>
                    </a:p>
                  </a:txBody>
                  <a:tcPr anchor="ctr">
                    <a:solidFill>
                      <a:srgbClr val="FFF1EB"/>
                    </a:solidFill>
                  </a:tcPr>
                </a:tc>
              </a:tr>
              <a:tr h="426720">
                <a:tc>
                  <a:txBody>
                    <a:bodyPr/>
                    <a:lstStyle/>
                    <a:p>
                      <a:r>
                        <a:rPr sz="1200" b="1">
                          <a:solidFill>
                            <a:srgbClr val="111827"/>
                          </a:solidFill>
                          <a:latin typeface="Montserrat"/>
                        </a:rPr>
                        <a:t>Payment security</a:t>
                      </a:r>
                    </a:p>
                  </a:txBody>
                  <a:tcPr anchor="ctr">
                    <a:solidFill>
                      <a:srgbClr val="FFFFFF"/>
                    </a:solidFill>
                  </a:tcPr>
                </a:tc>
                <a:tc>
                  <a:txBody>
                    <a:bodyPr/>
                    <a:lstStyle/>
                    <a:p>
                      <a:r>
                        <a:rPr sz="1200" b="0">
                          <a:solidFill>
                            <a:srgbClr val="4B5563"/>
                          </a:solidFill>
                          <a:latin typeface="Montserrat"/>
                        </a:rPr>
                        <a:t>Prepay and hope, or extend credit and chase</a:t>
                      </a:r>
                    </a:p>
                  </a:txBody>
                  <a:tcPr anchor="ctr">
                    <a:solidFill>
                      <a:srgbClr val="FFFFFF"/>
                    </a:solidFill>
                  </a:tcPr>
                </a:tc>
                <a:tc>
                  <a:txBody>
                    <a:bodyPr/>
                    <a:lstStyle/>
                    <a:p>
                      <a:r>
                        <a:rPr sz="1200" b="0">
                          <a:solidFill>
                            <a:srgbClr val="111827"/>
                          </a:solidFill>
                          <a:latin typeface="Montserrat"/>
                        </a:rPr>
                        <a:t>Funds locked in escrow before anything moves</a:t>
                      </a:r>
                    </a:p>
                  </a:txBody>
                  <a:tcPr anchor="ctr">
                    <a:solidFill>
                      <a:srgbClr val="FFF1EB"/>
                    </a:solidFill>
                  </a:tcPr>
                </a:tc>
              </a:tr>
              <a:tr h="426720">
                <a:tc>
                  <a:txBody>
                    <a:bodyPr/>
                    <a:lstStyle/>
                    <a:p>
                      <a:r>
                        <a:rPr sz="1200" b="1">
                          <a:solidFill>
                            <a:srgbClr val="111827"/>
                          </a:solidFill>
                          <a:latin typeface="Montserrat"/>
                        </a:rPr>
                        <a:t>Getting paid</a:t>
                      </a:r>
                    </a:p>
                  </a:txBody>
                  <a:tcPr anchor="ctr">
                    <a:solidFill>
                      <a:srgbClr val="FFFFFF"/>
                    </a:solidFill>
                  </a:tcPr>
                </a:tc>
                <a:tc>
                  <a:txBody>
                    <a:bodyPr/>
                    <a:lstStyle/>
                    <a:p>
                      <a:r>
                        <a:rPr sz="1200" b="0">
                          <a:solidFill>
                            <a:srgbClr val="4B5563"/>
                          </a:solidFill>
                          <a:latin typeface="Montserrat"/>
                        </a:rPr>
                        <a:t>On invoice terms, weeks after delivery</a:t>
                      </a:r>
                    </a:p>
                  </a:txBody>
                  <a:tcPr anchor="ctr">
                    <a:solidFill>
                      <a:srgbClr val="FFFFFF"/>
                    </a:solidFill>
                  </a:tcPr>
                </a:tc>
                <a:tc>
                  <a:txBody>
                    <a:bodyPr/>
                    <a:lstStyle/>
                    <a:p>
                      <a:r>
                        <a:rPr sz="1200" b="0">
                          <a:solidFill>
                            <a:srgbClr val="111827"/>
                          </a:solidFill>
                          <a:latin typeface="Montserrat"/>
                        </a:rPr>
                        <a:t>At each confirmed milestone, within minutes</a:t>
                      </a:r>
                    </a:p>
                  </a:txBody>
                  <a:tcPr anchor="ctr">
                    <a:solidFill>
                      <a:srgbClr val="FFF1EB"/>
                    </a:solidFill>
                  </a:tcPr>
                </a:tc>
              </a:tr>
              <a:tr h="426720">
                <a:tc>
                  <a:txBody>
                    <a:bodyPr/>
                    <a:lstStyle/>
                    <a:p>
                      <a:r>
                        <a:rPr sz="1200" b="1">
                          <a:solidFill>
                            <a:srgbClr val="111827"/>
                          </a:solidFill>
                          <a:latin typeface="Montserrat"/>
                        </a:rPr>
                        <a:t>Proof of delivery</a:t>
                      </a:r>
                    </a:p>
                  </a:txBody>
                  <a:tcPr anchor="ctr">
                    <a:solidFill>
                      <a:srgbClr val="FFFFFF"/>
                    </a:solidFill>
                  </a:tcPr>
                </a:tc>
                <a:tc>
                  <a:txBody>
                    <a:bodyPr/>
                    <a:lstStyle/>
                    <a:p>
                      <a:r>
                        <a:rPr sz="1200" b="0">
                          <a:solidFill>
                            <a:srgbClr val="4B5563"/>
                          </a:solidFill>
                          <a:latin typeface="Montserrat"/>
                        </a:rPr>
                        <a:t>Paper signatures and emailed photos</a:t>
                      </a:r>
                    </a:p>
                  </a:txBody>
                  <a:tcPr anchor="ctr">
                    <a:solidFill>
                      <a:srgbClr val="FFFFFF"/>
                    </a:solidFill>
                  </a:tcPr>
                </a:tc>
                <a:tc>
                  <a:txBody>
                    <a:bodyPr/>
                    <a:lstStyle/>
                    <a:p>
                      <a:r>
                        <a:rPr sz="1200" b="0">
                          <a:solidFill>
                            <a:srgbClr val="111827"/>
                          </a:solidFill>
                          <a:latin typeface="Montserrat"/>
                        </a:rPr>
                        <a:t>Scan, photos and a delivery code, sealed with a fingerprint</a:t>
                      </a:r>
                    </a:p>
                  </a:txBody>
                  <a:tcPr anchor="ctr">
                    <a:solidFill>
                      <a:srgbClr val="FFF1EB"/>
                    </a:solidFill>
                  </a:tcPr>
                </a:tc>
              </a:tr>
              <a:tr h="426720">
                <a:tc>
                  <a:txBody>
                    <a:bodyPr/>
                    <a:lstStyle/>
                    <a:p>
                      <a:r>
                        <a:rPr sz="1200" b="1">
                          <a:solidFill>
                            <a:srgbClr val="111827"/>
                          </a:solidFill>
                          <a:latin typeface="Montserrat"/>
                        </a:rPr>
                        <a:t>Disputes</a:t>
                      </a:r>
                    </a:p>
                  </a:txBody>
                  <a:tcPr anchor="ctr">
                    <a:solidFill>
                      <a:srgbClr val="FFFFFF"/>
                    </a:solidFill>
                  </a:tcPr>
                </a:tc>
                <a:tc>
                  <a:txBody>
                    <a:bodyPr/>
                    <a:lstStyle/>
                    <a:p>
                      <a:r>
                        <a:rPr sz="1200" b="0">
                          <a:solidFill>
                            <a:srgbClr val="4B5563"/>
                          </a:solidFill>
                          <a:latin typeface="Montserrat"/>
                        </a:rPr>
                        <a:t>Withheld payments, email chains, lawyers</a:t>
                      </a:r>
                    </a:p>
                  </a:txBody>
                  <a:tcPr anchor="ctr">
                    <a:solidFill>
                      <a:srgbClr val="FFFFFF"/>
                    </a:solidFill>
                  </a:tcPr>
                </a:tc>
                <a:tc>
                  <a:txBody>
                    <a:bodyPr/>
                    <a:lstStyle/>
                    <a:p>
                      <a:r>
                        <a:rPr sz="1200" b="0">
                          <a:solidFill>
                            <a:srgbClr val="111827"/>
                          </a:solidFill>
                          <a:latin typeface="Montserrat"/>
                        </a:rPr>
                        <a:t>Verified arbiters, paid whichever way they rule; fallback agreed</a:t>
                      </a:r>
                    </a:p>
                  </a:txBody>
                  <a:tcPr anchor="ctr">
                    <a:solidFill>
                      <a:srgbClr val="FFF1EB"/>
                    </a:solidFill>
                  </a:tcPr>
                </a:tc>
              </a:tr>
              <a:tr h="426720">
                <a:tc>
                  <a:txBody>
                    <a:bodyPr/>
                    <a:lstStyle/>
                    <a:p>
                      <a:r>
                        <a:rPr sz="1200" b="1">
                          <a:solidFill>
                            <a:srgbClr val="111827"/>
                          </a:solidFill>
                          <a:latin typeface="Montserrat"/>
                        </a:rPr>
                        <a:t>Extra charges (storage, waiting, duties)</a:t>
                      </a:r>
                    </a:p>
                  </a:txBody>
                  <a:tcPr anchor="ctr">
                    <a:solidFill>
                      <a:srgbClr val="FFFFFF"/>
                    </a:solidFill>
                  </a:tcPr>
                </a:tc>
                <a:tc>
                  <a:txBody>
                    <a:bodyPr/>
                    <a:lstStyle/>
                    <a:p>
                      <a:r>
                        <a:rPr sz="1200" b="0">
                          <a:solidFill>
                            <a:srgbClr val="4B5563"/>
                          </a:solidFill>
                          <a:latin typeface="Montserrat"/>
                        </a:rPr>
                        <a:t>Separate invoices, chased for weeks</a:t>
                      </a:r>
                    </a:p>
                  </a:txBody>
                  <a:tcPr anchor="ctr">
                    <a:solidFill>
                      <a:srgbClr val="FFFFFF"/>
                    </a:solidFill>
                  </a:tcPr>
                </a:tc>
                <a:tc>
                  <a:txBody>
                    <a:bodyPr/>
                    <a:lstStyle/>
                    <a:p>
                      <a:r>
                        <a:rPr sz="1200" b="0">
                          <a:solidFill>
                            <a:srgbClr val="111827"/>
                          </a:solidFill>
                          <a:latin typeface="Montserrat"/>
                        </a:rPr>
                        <a:t>Proposed with evidence, paid straight through on acceptance</a:t>
                      </a:r>
                    </a:p>
                  </a:txBody>
                  <a:tcPr anchor="ctr">
                    <a:solidFill>
                      <a:srgbClr val="FFF1EB"/>
                    </a:solidFill>
                  </a:tcPr>
                </a:tc>
              </a:tr>
              <a:tr h="426720">
                <a:tc>
                  <a:txBody>
                    <a:bodyPr/>
                    <a:lstStyle/>
                    <a:p>
                      <a:r>
                        <a:rPr sz="1200" b="1">
                          <a:solidFill>
                            <a:srgbClr val="111827"/>
                          </a:solidFill>
                          <a:latin typeface="Montserrat"/>
                        </a:rPr>
                        <a:t>Who you're dealing with</a:t>
                      </a:r>
                    </a:p>
                  </a:txBody>
                  <a:tcPr anchor="ctr">
                    <a:solidFill>
                      <a:srgbClr val="FFFFFF"/>
                    </a:solidFill>
                  </a:tcPr>
                </a:tc>
                <a:tc>
                  <a:txBody>
                    <a:bodyPr/>
                    <a:lstStyle/>
                    <a:p>
                      <a:r>
                        <a:rPr sz="1200" b="0">
                          <a:solidFill>
                            <a:srgbClr val="4B5563"/>
                          </a:solidFill>
                          <a:latin typeface="Montserrat"/>
                        </a:rPr>
                        <a:t>A website and a letterhead</a:t>
                      </a:r>
                    </a:p>
                  </a:txBody>
                  <a:tcPr anchor="ctr">
                    <a:solidFill>
                      <a:srgbClr val="FFFFFF"/>
                    </a:solidFill>
                  </a:tcPr>
                </a:tc>
                <a:tc>
                  <a:txBody>
                    <a:bodyPr/>
                    <a:lstStyle/>
                    <a:p>
                      <a:r>
                        <a:rPr sz="1200" b="0">
                          <a:solidFill>
                            <a:srgbClr val="111827"/>
                          </a:solidFill>
                          <a:latin typeface="Montserrat"/>
                        </a:rPr>
                        <a:t>A verification badge anyone can check</a:t>
                      </a:r>
                    </a:p>
                  </a:txBody>
                  <a:tcPr anchor="ctr">
                    <a:solidFill>
                      <a:srgbClr val="FFF1EB"/>
                    </a:solidFill>
                  </a:tcPr>
                </a:tc>
              </a:tr>
              <a:tr h="426720">
                <a:tc>
                  <a:txBody>
                    <a:bodyPr/>
                    <a:lstStyle/>
                    <a:p>
                      <a:r>
                        <a:rPr sz="1200" b="1">
                          <a:solidFill>
                            <a:srgbClr val="111827"/>
                          </a:solidFill>
                          <a:latin typeface="Montserrat"/>
                        </a:rPr>
                        <a:t>Visibility</a:t>
                      </a:r>
                    </a:p>
                  </a:txBody>
                  <a:tcPr anchor="ctr">
                    <a:solidFill>
                      <a:srgbClr val="FFFFFF"/>
                    </a:solidFill>
                  </a:tcPr>
                </a:tc>
                <a:tc>
                  <a:txBody>
                    <a:bodyPr/>
                    <a:lstStyle/>
                    <a:p>
                      <a:r>
                        <a:rPr sz="1200" b="0">
                          <a:solidFill>
                            <a:srgbClr val="4B5563"/>
                          </a:solidFill>
                          <a:latin typeface="Montserrat"/>
                        </a:rPr>
                        <a:t>Ask the forwarder</a:t>
                      </a:r>
                    </a:p>
                  </a:txBody>
                  <a:tcPr anchor="ctr">
                    <a:solidFill>
                      <a:srgbClr val="FFFFFF"/>
                    </a:solidFill>
                  </a:tcPr>
                </a:tc>
                <a:tc>
                  <a:txBody>
                    <a:bodyPr/>
                    <a:lstStyle/>
                    <a:p>
                      <a:r>
                        <a:rPr sz="1200" b="0">
                          <a:solidFill>
                            <a:srgbClr val="111827"/>
                          </a:solidFill>
                          <a:latin typeface="Montserrat"/>
                        </a:rPr>
                        <a:t>Every party works from the same live record</a:t>
                      </a:r>
                    </a:p>
                  </a:txBody>
                  <a:tcPr anchor="ctr">
                    <a:solidFill>
                      <a:srgbClr val="FFF1EB"/>
                    </a:solidFill>
                  </a:tcPr>
                </a:tc>
              </a:tr>
            </a:tbl>
          </a:graphicData>
        </a:graphic>
      </p:graphicFrame>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640080" y="502920"/>
            <a:ext cx="822960" cy="73152"/>
          </a:xfrm>
          <a:prstGeom prst="rect">
            <a:avLst/>
          </a:prstGeom>
          <a:solidFill>
            <a:srgbClr val="FF57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685800"/>
            <a:ext cx="10058400" cy="365760"/>
          </a:xfrm>
          <a:prstGeom prst="rect">
            <a:avLst/>
          </a:prstGeom>
          <a:noFill/>
        </p:spPr>
        <p:txBody>
          <a:bodyPr wrap="square">
            <a:spAutoFit/>
          </a:bodyPr>
          <a:lstStyle/>
          <a:p>
            <a:pPr algn="l">
              <a:spcAft>
                <a:spcPts val="480"/>
              </a:spcAft>
            </a:pPr>
            <a:r>
              <a:rPr sz="1200" b="1">
                <a:solidFill>
                  <a:srgbClr val="C2410C"/>
                </a:solidFill>
                <a:latin typeface="Montserrat"/>
              </a:rPr>
              <a:t>FOR SHIPPERS</a:t>
            </a:r>
          </a:p>
        </p:txBody>
      </p:sp>
      <p:sp>
        <p:nvSpPr>
          <p:cNvPr id="4" name="TextBox 3"/>
          <p:cNvSpPr txBox="1"/>
          <p:nvPr/>
        </p:nvSpPr>
        <p:spPr>
          <a:xfrm>
            <a:off x="640080" y="1005840"/>
            <a:ext cx="10881360" cy="1097280"/>
          </a:xfrm>
          <a:prstGeom prst="rect">
            <a:avLst/>
          </a:prstGeom>
          <a:noFill/>
        </p:spPr>
        <p:txBody>
          <a:bodyPr wrap="square">
            <a:spAutoFit/>
          </a:bodyPr>
          <a:lstStyle/>
          <a:p>
            <a:pPr algn="l">
              <a:spcAft>
                <a:spcPts val="1200"/>
              </a:spcAft>
            </a:pPr>
            <a:r>
              <a:rPr sz="3000" b="1">
                <a:solidFill>
                  <a:srgbClr val="111827"/>
                </a:solidFill>
                <a:latin typeface="Montserrat"/>
              </a:rPr>
              <a:t>Pay for proven progress, never for promises</a:t>
            </a:r>
          </a:p>
        </p:txBody>
      </p:sp>
      <p:pic>
        <p:nvPicPr>
          <p:cNvPr id="5" name="Picture 4" descr="logo-horizontal.png"/>
          <p:cNvPicPr>
            <a:picLocks noChangeAspect="1"/>
          </p:cNvPicPr>
          <p:nvPr/>
        </p:nvPicPr>
        <p:blipFill>
          <a:blip r:embed="rId2"/>
          <a:stretch>
            <a:fillRect/>
          </a:stretch>
        </p:blipFill>
        <p:spPr>
          <a:xfrm>
            <a:off x="640080" y="6263640"/>
            <a:ext cx="1598519" cy="274320"/>
          </a:xfrm>
          <a:prstGeom prst="rect">
            <a:avLst/>
          </a:prstGeom>
        </p:spPr>
      </p:pic>
      <p:sp>
        <p:nvSpPr>
          <p:cNvPr id="6" name="TextBox 5"/>
          <p:cNvSpPr txBox="1"/>
          <p:nvPr/>
        </p:nvSpPr>
        <p:spPr>
          <a:xfrm>
            <a:off x="10637215" y="6236208"/>
            <a:ext cx="914400" cy="365760"/>
          </a:xfrm>
          <a:prstGeom prst="rect">
            <a:avLst/>
          </a:prstGeom>
          <a:noFill/>
        </p:spPr>
        <p:txBody>
          <a:bodyPr wrap="square">
            <a:spAutoFit/>
          </a:bodyPr>
          <a:lstStyle/>
          <a:p>
            <a:pPr algn="r">
              <a:spcAft>
                <a:spcPts val="440"/>
              </a:spcAft>
            </a:pPr>
            <a:r>
              <a:rPr sz="1100" b="0">
                <a:solidFill>
                  <a:srgbClr val="4B5563"/>
                </a:solidFill>
                <a:latin typeface="Montserrat"/>
              </a:rPr>
              <a:t>5</a:t>
            </a:r>
          </a:p>
        </p:txBody>
      </p:sp>
      <p:sp>
        <p:nvSpPr>
          <p:cNvPr id="7" name="Rectangle 6"/>
          <p:cNvSpPr/>
          <p:nvPr/>
        </p:nvSpPr>
        <p:spPr>
          <a:xfrm>
            <a:off x="640080" y="2304288"/>
            <a:ext cx="109728" cy="109728"/>
          </a:xfrm>
          <a:prstGeom prst="rect">
            <a:avLst/>
          </a:prstGeom>
          <a:solidFill>
            <a:srgbClr val="FF57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2194560"/>
            <a:ext cx="10607040" cy="365760"/>
          </a:xfrm>
          <a:prstGeom prst="rect">
            <a:avLst/>
          </a:prstGeom>
          <a:noFill/>
        </p:spPr>
        <p:txBody>
          <a:bodyPr wrap="square">
            <a:spAutoFit/>
          </a:bodyPr>
          <a:lstStyle/>
          <a:p>
            <a:pPr algn="l">
              <a:spcAft>
                <a:spcPts val="640"/>
              </a:spcAft>
            </a:pPr>
            <a:r>
              <a:rPr sz="1600" b="1">
                <a:solidFill>
                  <a:srgbClr val="111827"/>
                </a:solidFill>
                <a:latin typeface="Montserrat"/>
              </a:rPr>
              <a:t>Your money is never in our hands</a:t>
            </a:r>
          </a:p>
        </p:txBody>
      </p:sp>
      <p:sp>
        <p:nvSpPr>
          <p:cNvPr id="9" name="TextBox 8"/>
          <p:cNvSpPr txBox="1"/>
          <p:nvPr/>
        </p:nvSpPr>
        <p:spPr>
          <a:xfrm>
            <a:off x="914400" y="2542032"/>
            <a:ext cx="10607040" cy="502920"/>
          </a:xfrm>
          <a:prstGeom prst="rect">
            <a:avLst/>
          </a:prstGeom>
          <a:noFill/>
        </p:spPr>
        <p:txBody>
          <a:bodyPr wrap="square">
            <a:spAutoFit/>
          </a:bodyPr>
          <a:lstStyle/>
          <a:p>
            <a:pPr algn="l">
              <a:spcAft>
                <a:spcPts val="480"/>
              </a:spcAft>
            </a:pPr>
            <a:r>
              <a:rPr sz="1200" b="0">
                <a:solidFill>
                  <a:srgbClr val="4B5563"/>
                </a:solidFill>
                <a:latin typeface="Montserrat"/>
              </a:rPr>
              <a:t>Funds sit in a contract only the agreed rules can move. GajuFreight can't touch them.</a:t>
            </a:r>
          </a:p>
        </p:txBody>
      </p:sp>
      <p:sp>
        <p:nvSpPr>
          <p:cNvPr id="10" name="Rectangle 9"/>
          <p:cNvSpPr/>
          <p:nvPr/>
        </p:nvSpPr>
        <p:spPr>
          <a:xfrm>
            <a:off x="640080" y="3172968"/>
            <a:ext cx="109728" cy="109728"/>
          </a:xfrm>
          <a:prstGeom prst="rect">
            <a:avLst/>
          </a:prstGeom>
          <a:solidFill>
            <a:srgbClr val="FF57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3063240"/>
            <a:ext cx="10607040" cy="365760"/>
          </a:xfrm>
          <a:prstGeom prst="rect">
            <a:avLst/>
          </a:prstGeom>
          <a:noFill/>
        </p:spPr>
        <p:txBody>
          <a:bodyPr wrap="square">
            <a:spAutoFit/>
          </a:bodyPr>
          <a:lstStyle/>
          <a:p>
            <a:pPr algn="l">
              <a:spcAft>
                <a:spcPts val="640"/>
              </a:spcAft>
            </a:pPr>
            <a:r>
              <a:rPr sz="1600" b="1">
                <a:solidFill>
                  <a:srgbClr val="111827"/>
                </a:solidFill>
                <a:latin typeface="Montserrat"/>
              </a:rPr>
              <a:t>Pay only as milestones are proven</a:t>
            </a:r>
          </a:p>
        </p:txBody>
      </p:sp>
      <p:sp>
        <p:nvSpPr>
          <p:cNvPr id="12" name="TextBox 11"/>
          <p:cNvSpPr txBox="1"/>
          <p:nvPr/>
        </p:nvSpPr>
        <p:spPr>
          <a:xfrm>
            <a:off x="914400" y="3410712"/>
            <a:ext cx="10607040" cy="502920"/>
          </a:xfrm>
          <a:prstGeom prst="rect">
            <a:avLst/>
          </a:prstGeom>
          <a:noFill/>
        </p:spPr>
        <p:txBody>
          <a:bodyPr wrap="square">
            <a:spAutoFit/>
          </a:bodyPr>
          <a:lstStyle/>
          <a:p>
            <a:pPr algn="l">
              <a:spcAft>
                <a:spcPts val="480"/>
              </a:spcAft>
            </a:pPr>
            <a:r>
              <a:rPr sz="1200" b="0">
                <a:solidFill>
                  <a:srgbClr val="4B5563"/>
                </a:solidFill>
                <a:latin typeface="Montserrat"/>
              </a:rPr>
              <a:t>Each payment follows a custody scan by an attestor you agreed to, with evidence kept on file.</a:t>
            </a:r>
          </a:p>
        </p:txBody>
      </p:sp>
      <p:sp>
        <p:nvSpPr>
          <p:cNvPr id="13" name="Rectangle 12"/>
          <p:cNvSpPr/>
          <p:nvPr/>
        </p:nvSpPr>
        <p:spPr>
          <a:xfrm>
            <a:off x="640080" y="4041648"/>
            <a:ext cx="109728" cy="109728"/>
          </a:xfrm>
          <a:prstGeom prst="rect">
            <a:avLst/>
          </a:prstGeom>
          <a:solidFill>
            <a:srgbClr val="FF57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 y="3931920"/>
            <a:ext cx="10607040" cy="365760"/>
          </a:xfrm>
          <a:prstGeom prst="rect">
            <a:avLst/>
          </a:prstGeom>
          <a:noFill/>
        </p:spPr>
        <p:txBody>
          <a:bodyPr wrap="square">
            <a:spAutoFit/>
          </a:bodyPr>
          <a:lstStyle/>
          <a:p>
            <a:pPr algn="l">
              <a:spcAft>
                <a:spcPts val="640"/>
              </a:spcAft>
            </a:pPr>
            <a:r>
              <a:rPr sz="1600" b="1">
                <a:solidFill>
                  <a:srgbClr val="111827"/>
                </a:solidFill>
                <a:latin typeface="Montserrat"/>
              </a:rPr>
              <a:t>Refunds the contract guarantees</a:t>
            </a:r>
          </a:p>
        </p:txBody>
      </p:sp>
      <p:sp>
        <p:nvSpPr>
          <p:cNvPr id="15" name="TextBox 14"/>
          <p:cNvSpPr txBox="1"/>
          <p:nvPr/>
        </p:nvSpPr>
        <p:spPr>
          <a:xfrm>
            <a:off x="914400" y="4279392"/>
            <a:ext cx="10607040" cy="502920"/>
          </a:xfrm>
          <a:prstGeom prst="rect">
            <a:avLst/>
          </a:prstGeom>
          <a:noFill/>
        </p:spPr>
        <p:txBody>
          <a:bodyPr wrap="square">
            <a:spAutoFit/>
          </a:bodyPr>
          <a:lstStyle/>
          <a:p>
            <a:pPr algn="l">
              <a:spcAft>
                <a:spcPts val="480"/>
              </a:spcAft>
            </a:pPr>
            <a:r>
              <a:rPr sz="1200" b="0">
                <a:solidFill>
                  <a:srgbClr val="4B5563"/>
                </a:solidFill>
                <a:latin typeface="Montserrat"/>
              </a:rPr>
              <a:t>If the deadline passes without delivery, the unpaid balance comes back to you. No chasing.</a:t>
            </a:r>
          </a:p>
        </p:txBody>
      </p:sp>
      <p:sp>
        <p:nvSpPr>
          <p:cNvPr id="16" name="Rectangle 15"/>
          <p:cNvSpPr/>
          <p:nvPr/>
        </p:nvSpPr>
        <p:spPr>
          <a:xfrm>
            <a:off x="640080" y="4910328"/>
            <a:ext cx="109728" cy="109728"/>
          </a:xfrm>
          <a:prstGeom prst="rect">
            <a:avLst/>
          </a:prstGeom>
          <a:solidFill>
            <a:srgbClr val="FF57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14400" y="4800600"/>
            <a:ext cx="10607040" cy="365760"/>
          </a:xfrm>
          <a:prstGeom prst="rect">
            <a:avLst/>
          </a:prstGeom>
          <a:noFill/>
        </p:spPr>
        <p:txBody>
          <a:bodyPr wrap="square">
            <a:spAutoFit/>
          </a:bodyPr>
          <a:lstStyle/>
          <a:p>
            <a:pPr algn="l">
              <a:spcAft>
                <a:spcPts val="640"/>
              </a:spcAft>
            </a:pPr>
            <a:r>
              <a:rPr sz="1600" b="1">
                <a:solidFill>
                  <a:srgbClr val="111827"/>
                </a:solidFill>
                <a:latin typeface="Montserrat"/>
              </a:rPr>
              <a:t>Comparable quotes, exact price</a:t>
            </a:r>
          </a:p>
        </p:txBody>
      </p:sp>
      <p:sp>
        <p:nvSpPr>
          <p:cNvPr id="18" name="TextBox 17"/>
          <p:cNvSpPr txBox="1"/>
          <p:nvPr/>
        </p:nvSpPr>
        <p:spPr>
          <a:xfrm>
            <a:off x="914400" y="5148072"/>
            <a:ext cx="10607040" cy="502920"/>
          </a:xfrm>
          <a:prstGeom prst="rect">
            <a:avLst/>
          </a:prstGeom>
          <a:noFill/>
        </p:spPr>
        <p:txBody>
          <a:bodyPr wrap="square">
            <a:spAutoFit/>
          </a:bodyPr>
          <a:lstStyle/>
          <a:p>
            <a:pPr algn="l">
              <a:spcAft>
                <a:spcPts val="480"/>
              </a:spcAft>
            </a:pPr>
            <a:r>
              <a:rPr sz="1200" b="0">
                <a:solidFill>
                  <a:srgbClr val="4B5563"/>
                </a:solidFill>
                <a:latin typeface="Montserrat"/>
              </a:rPr>
              <a:t>Invited forwarders quote on the same consignment; you pay exactly the price you accepted.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640080" y="502920"/>
            <a:ext cx="822960" cy="73152"/>
          </a:xfrm>
          <a:prstGeom prst="rect">
            <a:avLst/>
          </a:prstGeom>
          <a:solidFill>
            <a:srgbClr val="FF57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685800"/>
            <a:ext cx="10058400" cy="365760"/>
          </a:xfrm>
          <a:prstGeom prst="rect">
            <a:avLst/>
          </a:prstGeom>
          <a:noFill/>
        </p:spPr>
        <p:txBody>
          <a:bodyPr wrap="square">
            <a:spAutoFit/>
          </a:bodyPr>
          <a:lstStyle/>
          <a:p>
            <a:pPr algn="l">
              <a:spcAft>
                <a:spcPts val="480"/>
              </a:spcAft>
            </a:pPr>
            <a:r>
              <a:rPr sz="1200" b="1">
                <a:solidFill>
                  <a:srgbClr val="C2410C"/>
                </a:solidFill>
                <a:latin typeface="Montserrat"/>
              </a:rPr>
              <a:t>FOR FORWARDERS AND CARRIERS</a:t>
            </a:r>
          </a:p>
        </p:txBody>
      </p:sp>
      <p:sp>
        <p:nvSpPr>
          <p:cNvPr id="4" name="TextBox 3"/>
          <p:cNvSpPr txBox="1"/>
          <p:nvPr/>
        </p:nvSpPr>
        <p:spPr>
          <a:xfrm>
            <a:off x="640080" y="1005840"/>
            <a:ext cx="10881360" cy="1097280"/>
          </a:xfrm>
          <a:prstGeom prst="rect">
            <a:avLst/>
          </a:prstGeom>
          <a:noFill/>
        </p:spPr>
        <p:txBody>
          <a:bodyPr wrap="square">
            <a:spAutoFit/>
          </a:bodyPr>
          <a:lstStyle/>
          <a:p>
            <a:pPr algn="l">
              <a:spcAft>
                <a:spcPts val="1200"/>
              </a:spcAft>
            </a:pPr>
            <a:r>
              <a:rPr sz="3000" b="1">
                <a:solidFill>
                  <a:srgbClr val="111827"/>
                </a:solidFill>
                <a:latin typeface="Montserrat"/>
              </a:rPr>
              <a:t>Get paid as you deliver, not weeks later</a:t>
            </a:r>
          </a:p>
        </p:txBody>
      </p:sp>
      <p:pic>
        <p:nvPicPr>
          <p:cNvPr id="5" name="Picture 4" descr="logo-horizontal.png"/>
          <p:cNvPicPr>
            <a:picLocks noChangeAspect="1"/>
          </p:cNvPicPr>
          <p:nvPr/>
        </p:nvPicPr>
        <p:blipFill>
          <a:blip r:embed="rId2"/>
          <a:stretch>
            <a:fillRect/>
          </a:stretch>
        </p:blipFill>
        <p:spPr>
          <a:xfrm>
            <a:off x="640080" y="6263640"/>
            <a:ext cx="1598519" cy="274320"/>
          </a:xfrm>
          <a:prstGeom prst="rect">
            <a:avLst/>
          </a:prstGeom>
        </p:spPr>
      </p:pic>
      <p:sp>
        <p:nvSpPr>
          <p:cNvPr id="6" name="TextBox 5"/>
          <p:cNvSpPr txBox="1"/>
          <p:nvPr/>
        </p:nvSpPr>
        <p:spPr>
          <a:xfrm>
            <a:off x="10637215" y="6236208"/>
            <a:ext cx="914400" cy="365760"/>
          </a:xfrm>
          <a:prstGeom prst="rect">
            <a:avLst/>
          </a:prstGeom>
          <a:noFill/>
        </p:spPr>
        <p:txBody>
          <a:bodyPr wrap="square">
            <a:spAutoFit/>
          </a:bodyPr>
          <a:lstStyle/>
          <a:p>
            <a:pPr algn="r">
              <a:spcAft>
                <a:spcPts val="440"/>
              </a:spcAft>
            </a:pPr>
            <a:r>
              <a:rPr sz="1100" b="0">
                <a:solidFill>
                  <a:srgbClr val="4B5563"/>
                </a:solidFill>
                <a:latin typeface="Montserrat"/>
              </a:rPr>
              <a:t>6</a:t>
            </a:r>
          </a:p>
        </p:txBody>
      </p:sp>
      <p:sp>
        <p:nvSpPr>
          <p:cNvPr id="7" name="Rectangle 6"/>
          <p:cNvSpPr/>
          <p:nvPr/>
        </p:nvSpPr>
        <p:spPr>
          <a:xfrm>
            <a:off x="640080" y="2304288"/>
            <a:ext cx="109728" cy="109728"/>
          </a:xfrm>
          <a:prstGeom prst="rect">
            <a:avLst/>
          </a:prstGeom>
          <a:solidFill>
            <a:srgbClr val="FF57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2194560"/>
            <a:ext cx="10607040" cy="365760"/>
          </a:xfrm>
          <a:prstGeom prst="rect">
            <a:avLst/>
          </a:prstGeom>
          <a:noFill/>
        </p:spPr>
        <p:txBody>
          <a:bodyPr wrap="square">
            <a:spAutoFit/>
          </a:bodyPr>
          <a:lstStyle/>
          <a:p>
            <a:pPr algn="l">
              <a:spcAft>
                <a:spcPts val="640"/>
              </a:spcAft>
            </a:pPr>
            <a:r>
              <a:rPr sz="1600" b="1">
                <a:solidFill>
                  <a:srgbClr val="111827"/>
                </a:solidFill>
                <a:latin typeface="Montserrat"/>
              </a:rPr>
              <a:t>Know the money is there before you move</a:t>
            </a:r>
          </a:p>
        </p:txBody>
      </p:sp>
      <p:sp>
        <p:nvSpPr>
          <p:cNvPr id="9" name="TextBox 8"/>
          <p:cNvSpPr txBox="1"/>
          <p:nvPr/>
        </p:nvSpPr>
        <p:spPr>
          <a:xfrm>
            <a:off x="914400" y="2542032"/>
            <a:ext cx="10607040" cy="502920"/>
          </a:xfrm>
          <a:prstGeom prst="rect">
            <a:avLst/>
          </a:prstGeom>
          <a:noFill/>
        </p:spPr>
        <p:txBody>
          <a:bodyPr wrap="square">
            <a:spAutoFit/>
          </a:bodyPr>
          <a:lstStyle/>
          <a:p>
            <a:pPr algn="l">
              <a:spcAft>
                <a:spcPts val="480"/>
              </a:spcAft>
            </a:pPr>
            <a:r>
              <a:rPr sz="1200" b="0">
                <a:solidFill>
                  <a:srgbClr val="4B5563"/>
                </a:solidFill>
                <a:latin typeface="Montserrat"/>
              </a:rPr>
              <a:t>The shipper funds the escrow when they book, so you see the money before you confirm and never carry the credit risk.</a:t>
            </a:r>
          </a:p>
        </p:txBody>
      </p:sp>
      <p:sp>
        <p:nvSpPr>
          <p:cNvPr id="10" name="Rectangle 9"/>
          <p:cNvSpPr/>
          <p:nvPr/>
        </p:nvSpPr>
        <p:spPr>
          <a:xfrm>
            <a:off x="640080" y="3172968"/>
            <a:ext cx="109728" cy="109728"/>
          </a:xfrm>
          <a:prstGeom prst="rect">
            <a:avLst/>
          </a:prstGeom>
          <a:solidFill>
            <a:srgbClr val="FF57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3063240"/>
            <a:ext cx="10607040" cy="365760"/>
          </a:xfrm>
          <a:prstGeom prst="rect">
            <a:avLst/>
          </a:prstGeom>
          <a:noFill/>
        </p:spPr>
        <p:txBody>
          <a:bodyPr wrap="square">
            <a:spAutoFit/>
          </a:bodyPr>
          <a:lstStyle/>
          <a:p>
            <a:pPr algn="l">
              <a:spcAft>
                <a:spcPts val="640"/>
              </a:spcAft>
            </a:pPr>
            <a:r>
              <a:rPr sz="1600" b="1">
                <a:solidFill>
                  <a:srgbClr val="111827"/>
                </a:solidFill>
                <a:latin typeface="Montserrat"/>
              </a:rPr>
              <a:t>Paid at every milestone</a:t>
            </a:r>
          </a:p>
        </p:txBody>
      </p:sp>
      <p:sp>
        <p:nvSpPr>
          <p:cNvPr id="12" name="TextBox 11"/>
          <p:cNvSpPr txBox="1"/>
          <p:nvPr/>
        </p:nvSpPr>
        <p:spPr>
          <a:xfrm>
            <a:off x="914400" y="3410712"/>
            <a:ext cx="10607040" cy="502920"/>
          </a:xfrm>
          <a:prstGeom prst="rect">
            <a:avLst/>
          </a:prstGeom>
          <a:noFill/>
        </p:spPr>
        <p:txBody>
          <a:bodyPr wrap="square">
            <a:spAutoFit/>
          </a:bodyPr>
          <a:lstStyle/>
          <a:p>
            <a:pPr algn="l">
              <a:spcAft>
                <a:spcPts val="480"/>
              </a:spcAft>
            </a:pPr>
            <a:r>
              <a:rPr sz="1200" b="0">
                <a:solidFill>
                  <a:srgbClr val="4B5563"/>
                </a:solidFill>
                <a:latin typeface="Montserrat"/>
              </a:rPr>
              <a:t>Each attested scan-in, or a customs or on-board event, pays its milestone straight to you, improving cash flow.</a:t>
            </a:r>
          </a:p>
        </p:txBody>
      </p:sp>
      <p:sp>
        <p:nvSpPr>
          <p:cNvPr id="13" name="Rectangle 12"/>
          <p:cNvSpPr/>
          <p:nvPr/>
        </p:nvSpPr>
        <p:spPr>
          <a:xfrm>
            <a:off x="640080" y="4041648"/>
            <a:ext cx="109728" cy="109728"/>
          </a:xfrm>
          <a:prstGeom prst="rect">
            <a:avLst/>
          </a:prstGeom>
          <a:solidFill>
            <a:srgbClr val="FF57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 y="3931920"/>
            <a:ext cx="10607040" cy="365760"/>
          </a:xfrm>
          <a:prstGeom prst="rect">
            <a:avLst/>
          </a:prstGeom>
          <a:noFill/>
        </p:spPr>
        <p:txBody>
          <a:bodyPr wrap="square">
            <a:spAutoFit/>
          </a:bodyPr>
          <a:lstStyle/>
          <a:p>
            <a:pPr algn="l">
              <a:spcAft>
                <a:spcPts val="640"/>
              </a:spcAft>
            </a:pPr>
            <a:r>
              <a:rPr sz="1600" b="1">
                <a:solidFill>
                  <a:srgbClr val="111827"/>
                </a:solidFill>
                <a:latin typeface="Montserrat"/>
              </a:rPr>
              <a:t>Subcontract legs on the same terms</a:t>
            </a:r>
          </a:p>
        </p:txBody>
      </p:sp>
      <p:sp>
        <p:nvSpPr>
          <p:cNvPr id="15" name="TextBox 14"/>
          <p:cNvSpPr txBox="1"/>
          <p:nvPr/>
        </p:nvSpPr>
        <p:spPr>
          <a:xfrm>
            <a:off x="914400" y="4279392"/>
            <a:ext cx="10607040" cy="502920"/>
          </a:xfrm>
          <a:prstGeom prst="rect">
            <a:avLst/>
          </a:prstGeom>
          <a:noFill/>
        </p:spPr>
        <p:txBody>
          <a:bodyPr wrap="square">
            <a:spAutoFit/>
          </a:bodyPr>
          <a:lstStyle/>
          <a:p>
            <a:pPr algn="l">
              <a:spcAft>
                <a:spcPts val="480"/>
              </a:spcAft>
            </a:pPr>
            <a:r>
              <a:rPr sz="1200" b="0">
                <a:solidFill>
                  <a:srgbClr val="4B5563"/>
                </a:solidFill>
                <a:latin typeface="Montserrat"/>
              </a:rPr>
              <a:t>Book each carrier through GajuFreight too: they're paid at handover, from an escrow you fund.</a:t>
            </a:r>
          </a:p>
        </p:txBody>
      </p:sp>
      <p:sp>
        <p:nvSpPr>
          <p:cNvPr id="16" name="Rectangle 15"/>
          <p:cNvSpPr/>
          <p:nvPr/>
        </p:nvSpPr>
        <p:spPr>
          <a:xfrm>
            <a:off x="640080" y="4910328"/>
            <a:ext cx="109728" cy="109728"/>
          </a:xfrm>
          <a:prstGeom prst="rect">
            <a:avLst/>
          </a:prstGeom>
          <a:solidFill>
            <a:srgbClr val="FF57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14400" y="4800600"/>
            <a:ext cx="10607040" cy="365760"/>
          </a:xfrm>
          <a:prstGeom prst="rect">
            <a:avLst/>
          </a:prstGeom>
          <a:noFill/>
        </p:spPr>
        <p:txBody>
          <a:bodyPr wrap="square">
            <a:spAutoFit/>
          </a:bodyPr>
          <a:lstStyle/>
          <a:p>
            <a:pPr algn="l">
              <a:spcAft>
                <a:spcPts val="640"/>
              </a:spcAft>
            </a:pPr>
            <a:r>
              <a:rPr sz="1600" b="1">
                <a:solidFill>
                  <a:srgbClr val="111827"/>
                </a:solidFill>
                <a:latin typeface="Montserrat"/>
              </a:rPr>
              <a:t>A dispute can't freeze everything</a:t>
            </a:r>
          </a:p>
        </p:txBody>
      </p:sp>
      <p:sp>
        <p:nvSpPr>
          <p:cNvPr id="18" name="TextBox 17"/>
          <p:cNvSpPr txBox="1"/>
          <p:nvPr/>
        </p:nvSpPr>
        <p:spPr>
          <a:xfrm>
            <a:off x="914400" y="5148072"/>
            <a:ext cx="10607040" cy="502920"/>
          </a:xfrm>
          <a:prstGeom prst="rect">
            <a:avLst/>
          </a:prstGeom>
          <a:noFill/>
        </p:spPr>
        <p:txBody>
          <a:bodyPr wrap="square">
            <a:spAutoFit/>
          </a:bodyPr>
          <a:lstStyle/>
          <a:p>
            <a:pPr algn="l">
              <a:spcAft>
                <a:spcPts val="480"/>
              </a:spcAft>
            </a:pPr>
            <a:r>
              <a:rPr sz="1200" b="0">
                <a:solidFill>
                  <a:srgbClr val="4B5563"/>
                </a:solidFill>
                <a:latin typeface="Montserrat"/>
              </a:rPr>
              <a:t>Milestones already paid stay paid. Only the unpaid balance goes to the panel.</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640080" y="502920"/>
            <a:ext cx="822960" cy="73152"/>
          </a:xfrm>
          <a:prstGeom prst="rect">
            <a:avLst/>
          </a:prstGeom>
          <a:solidFill>
            <a:srgbClr val="FF57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685800"/>
            <a:ext cx="10058400" cy="365760"/>
          </a:xfrm>
          <a:prstGeom prst="rect">
            <a:avLst/>
          </a:prstGeom>
          <a:noFill/>
        </p:spPr>
        <p:txBody>
          <a:bodyPr wrap="square">
            <a:spAutoFit/>
          </a:bodyPr>
          <a:lstStyle/>
          <a:p>
            <a:pPr algn="l">
              <a:spcAft>
                <a:spcPts val="480"/>
              </a:spcAft>
            </a:pPr>
            <a:r>
              <a:rPr sz="1200" b="1">
                <a:solidFill>
                  <a:srgbClr val="C2410C"/>
                </a:solidFill>
                <a:latin typeface="Montserrat"/>
              </a:rPr>
              <a:t>BUILT-IN TRUST</a:t>
            </a:r>
          </a:p>
        </p:txBody>
      </p:sp>
      <p:sp>
        <p:nvSpPr>
          <p:cNvPr id="4" name="TextBox 3"/>
          <p:cNvSpPr txBox="1"/>
          <p:nvPr/>
        </p:nvSpPr>
        <p:spPr>
          <a:xfrm>
            <a:off x="640080" y="1005840"/>
            <a:ext cx="10881360" cy="1097280"/>
          </a:xfrm>
          <a:prstGeom prst="rect">
            <a:avLst/>
          </a:prstGeom>
          <a:noFill/>
        </p:spPr>
        <p:txBody>
          <a:bodyPr wrap="square">
            <a:spAutoFit/>
          </a:bodyPr>
          <a:lstStyle/>
          <a:p>
            <a:pPr algn="l">
              <a:spcAft>
                <a:spcPts val="1200"/>
              </a:spcAft>
            </a:pPr>
            <a:r>
              <a:rPr sz="3000" b="1">
                <a:solidFill>
                  <a:srgbClr val="111827"/>
                </a:solidFill>
                <a:latin typeface="Montserrat"/>
              </a:rPr>
              <a:t>Nobody has to trust us, or each other</a:t>
            </a:r>
          </a:p>
        </p:txBody>
      </p:sp>
      <p:pic>
        <p:nvPicPr>
          <p:cNvPr id="5" name="Picture 4" descr="logo-horizontal.png"/>
          <p:cNvPicPr>
            <a:picLocks noChangeAspect="1"/>
          </p:cNvPicPr>
          <p:nvPr/>
        </p:nvPicPr>
        <p:blipFill>
          <a:blip r:embed="rId2"/>
          <a:stretch>
            <a:fillRect/>
          </a:stretch>
        </p:blipFill>
        <p:spPr>
          <a:xfrm>
            <a:off x="640080" y="6263640"/>
            <a:ext cx="1598519" cy="274320"/>
          </a:xfrm>
          <a:prstGeom prst="rect">
            <a:avLst/>
          </a:prstGeom>
        </p:spPr>
      </p:pic>
      <p:sp>
        <p:nvSpPr>
          <p:cNvPr id="6" name="TextBox 5"/>
          <p:cNvSpPr txBox="1"/>
          <p:nvPr/>
        </p:nvSpPr>
        <p:spPr>
          <a:xfrm>
            <a:off x="10637215" y="6236208"/>
            <a:ext cx="914400" cy="365760"/>
          </a:xfrm>
          <a:prstGeom prst="rect">
            <a:avLst/>
          </a:prstGeom>
          <a:noFill/>
        </p:spPr>
        <p:txBody>
          <a:bodyPr wrap="square">
            <a:spAutoFit/>
          </a:bodyPr>
          <a:lstStyle/>
          <a:p>
            <a:pPr algn="r">
              <a:spcAft>
                <a:spcPts val="440"/>
              </a:spcAft>
            </a:pPr>
            <a:r>
              <a:rPr sz="1100" b="0">
                <a:solidFill>
                  <a:srgbClr val="4B5563"/>
                </a:solidFill>
                <a:latin typeface="Montserrat"/>
              </a:rPr>
              <a:t>7</a:t>
            </a:r>
          </a:p>
        </p:txBody>
      </p:sp>
      <p:sp>
        <p:nvSpPr>
          <p:cNvPr id="7" name="Rectangle 6"/>
          <p:cNvSpPr/>
          <p:nvPr/>
        </p:nvSpPr>
        <p:spPr>
          <a:xfrm>
            <a:off x="640080" y="2377440"/>
            <a:ext cx="2522143" cy="54864"/>
          </a:xfrm>
          <a:prstGeom prst="rect">
            <a:avLst/>
          </a:prstGeom>
          <a:solidFill>
            <a:srgbClr val="1118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2560320"/>
            <a:ext cx="2522143" cy="822960"/>
          </a:xfrm>
          <a:prstGeom prst="rect">
            <a:avLst/>
          </a:prstGeom>
          <a:noFill/>
        </p:spPr>
        <p:txBody>
          <a:bodyPr wrap="square">
            <a:spAutoFit/>
          </a:bodyPr>
          <a:lstStyle/>
          <a:p>
            <a:pPr algn="l">
              <a:spcAft>
                <a:spcPts val="640"/>
              </a:spcAft>
            </a:pPr>
            <a:r>
              <a:rPr sz="1600" b="1">
                <a:solidFill>
                  <a:srgbClr val="111827"/>
                </a:solidFill>
                <a:latin typeface="Montserrat"/>
              </a:rPr>
              <a:t>We never hold keys or funds</a:t>
            </a:r>
          </a:p>
        </p:txBody>
      </p:sp>
      <p:sp>
        <p:nvSpPr>
          <p:cNvPr id="9" name="TextBox 8"/>
          <p:cNvSpPr txBox="1"/>
          <p:nvPr/>
        </p:nvSpPr>
        <p:spPr>
          <a:xfrm>
            <a:off x="640080" y="3429000"/>
            <a:ext cx="2522143" cy="2240280"/>
          </a:xfrm>
          <a:prstGeom prst="rect">
            <a:avLst/>
          </a:prstGeom>
          <a:noFill/>
        </p:spPr>
        <p:txBody>
          <a:bodyPr wrap="square">
            <a:spAutoFit/>
          </a:bodyPr>
          <a:lstStyle/>
          <a:p>
            <a:pPr algn="l">
              <a:spcAft>
                <a:spcPts val="520"/>
              </a:spcAft>
            </a:pPr>
            <a:r>
              <a:rPr sz="1300" b="0">
                <a:solidFill>
                  <a:srgbClr val="4B5563"/>
                </a:solidFill>
                <a:latin typeface="Montserrat"/>
              </a:rPr>
              <a:t>Every action is signed in the party's own wallet. Our servers build transactions; they can't sign them.</a:t>
            </a:r>
          </a:p>
        </p:txBody>
      </p:sp>
      <p:sp>
        <p:nvSpPr>
          <p:cNvPr id="10" name="Rectangle 9"/>
          <p:cNvSpPr/>
          <p:nvPr/>
        </p:nvSpPr>
        <p:spPr>
          <a:xfrm>
            <a:off x="3436543" y="2377440"/>
            <a:ext cx="2522143" cy="54864"/>
          </a:xfrm>
          <a:prstGeom prst="rect">
            <a:avLst/>
          </a:prstGeom>
          <a:solidFill>
            <a:srgbClr val="1118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436543" y="2560320"/>
            <a:ext cx="2522143" cy="822960"/>
          </a:xfrm>
          <a:prstGeom prst="rect">
            <a:avLst/>
          </a:prstGeom>
          <a:noFill/>
        </p:spPr>
        <p:txBody>
          <a:bodyPr wrap="square">
            <a:spAutoFit/>
          </a:bodyPr>
          <a:lstStyle/>
          <a:p>
            <a:pPr algn="l">
              <a:spcAft>
                <a:spcPts val="640"/>
              </a:spcAft>
            </a:pPr>
            <a:r>
              <a:rPr sz="1600" b="1">
                <a:solidFill>
                  <a:srgbClr val="111827"/>
                </a:solidFill>
                <a:latin typeface="Montserrat"/>
              </a:rPr>
              <a:t>Named witnesses per shipment</a:t>
            </a:r>
          </a:p>
        </p:txBody>
      </p:sp>
      <p:sp>
        <p:nvSpPr>
          <p:cNvPr id="12" name="TextBox 11"/>
          <p:cNvSpPr txBox="1"/>
          <p:nvPr/>
        </p:nvSpPr>
        <p:spPr>
          <a:xfrm>
            <a:off x="3436543" y="3429000"/>
            <a:ext cx="2522143" cy="2240280"/>
          </a:xfrm>
          <a:prstGeom prst="rect">
            <a:avLst/>
          </a:prstGeom>
          <a:noFill/>
        </p:spPr>
        <p:txBody>
          <a:bodyPr wrap="square">
            <a:spAutoFit/>
          </a:bodyPr>
          <a:lstStyle/>
          <a:p>
            <a:pPr algn="l">
              <a:spcAft>
                <a:spcPts val="520"/>
              </a:spcAft>
            </a:pPr>
            <a:r>
              <a:rPr sz="1300" b="0">
                <a:solidFill>
                  <a:srgbClr val="4B5563"/>
                </a:solidFill>
                <a:latin typeface="Montserrat"/>
              </a:rPr>
              <a:t>Only the attestors agreed for this shipment can record custody, and no one attests their own payment.</a:t>
            </a:r>
          </a:p>
        </p:txBody>
      </p:sp>
      <p:sp>
        <p:nvSpPr>
          <p:cNvPr id="13" name="Rectangle 12"/>
          <p:cNvSpPr/>
          <p:nvPr/>
        </p:nvSpPr>
        <p:spPr>
          <a:xfrm>
            <a:off x="6233006" y="2377440"/>
            <a:ext cx="2522143" cy="54864"/>
          </a:xfrm>
          <a:prstGeom prst="rect">
            <a:avLst/>
          </a:prstGeom>
          <a:solidFill>
            <a:srgbClr val="1118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33006" y="2560320"/>
            <a:ext cx="2522143" cy="822960"/>
          </a:xfrm>
          <a:prstGeom prst="rect">
            <a:avLst/>
          </a:prstGeom>
          <a:noFill/>
        </p:spPr>
        <p:txBody>
          <a:bodyPr wrap="square">
            <a:spAutoFit/>
          </a:bodyPr>
          <a:lstStyle/>
          <a:p>
            <a:pPr algn="l">
              <a:spcAft>
                <a:spcPts val="640"/>
              </a:spcAft>
            </a:pPr>
            <a:r>
              <a:rPr sz="1600" b="1">
                <a:solidFill>
                  <a:srgbClr val="111827"/>
                </a:solidFill>
                <a:latin typeface="Montserrat"/>
              </a:rPr>
              <a:t>Tamper-evident evidence</a:t>
            </a:r>
          </a:p>
        </p:txBody>
      </p:sp>
      <p:sp>
        <p:nvSpPr>
          <p:cNvPr id="15" name="TextBox 14"/>
          <p:cNvSpPr txBox="1"/>
          <p:nvPr/>
        </p:nvSpPr>
        <p:spPr>
          <a:xfrm>
            <a:off x="6233006" y="3429000"/>
            <a:ext cx="2522143" cy="2240280"/>
          </a:xfrm>
          <a:prstGeom prst="rect">
            <a:avLst/>
          </a:prstGeom>
          <a:noFill/>
        </p:spPr>
        <p:txBody>
          <a:bodyPr wrap="square">
            <a:spAutoFit/>
          </a:bodyPr>
          <a:lstStyle/>
          <a:p>
            <a:pPr algn="l">
              <a:spcAft>
                <a:spcPts val="520"/>
              </a:spcAft>
            </a:pPr>
            <a:r>
              <a:rPr sz="1300" b="0">
                <a:solidFill>
                  <a:srgbClr val="4B5563"/>
                </a:solidFill>
                <a:latin typeface="Montserrat"/>
              </a:rPr>
              <a:t>Scans, photos and documents are stored encrypted; their fingerprint on the ledger proves they haven't changed.</a:t>
            </a:r>
          </a:p>
        </p:txBody>
      </p:sp>
      <p:sp>
        <p:nvSpPr>
          <p:cNvPr id="16" name="Rectangle 15"/>
          <p:cNvSpPr/>
          <p:nvPr/>
        </p:nvSpPr>
        <p:spPr>
          <a:xfrm>
            <a:off x="9029469" y="2377440"/>
            <a:ext cx="2522143" cy="54864"/>
          </a:xfrm>
          <a:prstGeom prst="rect">
            <a:avLst/>
          </a:prstGeom>
          <a:solidFill>
            <a:srgbClr val="1118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029469" y="2560320"/>
            <a:ext cx="2522143" cy="822960"/>
          </a:xfrm>
          <a:prstGeom prst="rect">
            <a:avLst/>
          </a:prstGeom>
          <a:noFill/>
        </p:spPr>
        <p:txBody>
          <a:bodyPr wrap="square">
            <a:spAutoFit/>
          </a:bodyPr>
          <a:lstStyle/>
          <a:p>
            <a:pPr algn="l">
              <a:spcAft>
                <a:spcPts val="640"/>
              </a:spcAft>
            </a:pPr>
            <a:r>
              <a:rPr sz="1600" b="1">
                <a:solidFill>
                  <a:srgbClr val="111827"/>
                </a:solidFill>
                <a:latin typeface="Montserrat"/>
              </a:rPr>
              <a:t>No single party can block payment</a:t>
            </a:r>
          </a:p>
        </p:txBody>
      </p:sp>
      <p:sp>
        <p:nvSpPr>
          <p:cNvPr id="18" name="TextBox 17"/>
          <p:cNvSpPr txBox="1"/>
          <p:nvPr/>
        </p:nvSpPr>
        <p:spPr>
          <a:xfrm>
            <a:off x="9029469" y="3429000"/>
            <a:ext cx="2522143" cy="2240280"/>
          </a:xfrm>
          <a:prstGeom prst="rect">
            <a:avLst/>
          </a:prstGeom>
          <a:noFill/>
        </p:spPr>
        <p:txBody>
          <a:bodyPr wrap="square">
            <a:spAutoFit/>
          </a:bodyPr>
          <a:lstStyle/>
          <a:p>
            <a:pPr algn="l">
              <a:spcAft>
                <a:spcPts val="520"/>
              </a:spcAft>
            </a:pPr>
            <a:r>
              <a:rPr sz="1300" b="0">
                <a:solidFill>
                  <a:srgbClr val="4B5563"/>
                </a:solidFill>
                <a:latin typeface="Montserrat"/>
              </a:rPr>
              <a:t>Delivery codes, challenge windows, deadlines and a panel fallback mean money always has a way out.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640080" y="502920"/>
            <a:ext cx="822960" cy="73152"/>
          </a:xfrm>
          <a:prstGeom prst="rect">
            <a:avLst/>
          </a:prstGeom>
          <a:solidFill>
            <a:srgbClr val="FF57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685800"/>
            <a:ext cx="10058400" cy="365760"/>
          </a:xfrm>
          <a:prstGeom prst="rect">
            <a:avLst/>
          </a:prstGeom>
          <a:noFill/>
        </p:spPr>
        <p:txBody>
          <a:bodyPr wrap="square">
            <a:spAutoFit/>
          </a:bodyPr>
          <a:lstStyle/>
          <a:p>
            <a:pPr algn="l">
              <a:spcAft>
                <a:spcPts val="480"/>
              </a:spcAft>
            </a:pPr>
            <a:r>
              <a:rPr sz="1200" b="1">
                <a:solidFill>
                  <a:srgbClr val="C2410C"/>
                </a:solidFill>
                <a:latin typeface="Montserrat"/>
              </a:rPr>
              <a:t>PRIVACY</a:t>
            </a:r>
          </a:p>
        </p:txBody>
      </p:sp>
      <p:sp>
        <p:nvSpPr>
          <p:cNvPr id="4" name="TextBox 3"/>
          <p:cNvSpPr txBox="1"/>
          <p:nvPr/>
        </p:nvSpPr>
        <p:spPr>
          <a:xfrm>
            <a:off x="640080" y="1005840"/>
            <a:ext cx="10881360" cy="1097280"/>
          </a:xfrm>
          <a:prstGeom prst="rect">
            <a:avLst/>
          </a:prstGeom>
          <a:noFill/>
        </p:spPr>
        <p:txBody>
          <a:bodyPr wrap="square">
            <a:spAutoFit/>
          </a:bodyPr>
          <a:lstStyle/>
          <a:p>
            <a:pPr algn="l">
              <a:spcAft>
                <a:spcPts val="1200"/>
              </a:spcAft>
            </a:pPr>
            <a:r>
              <a:rPr sz="3000" b="1">
                <a:solidFill>
                  <a:srgbClr val="111827"/>
                </a:solidFill>
                <a:latin typeface="Montserrat"/>
              </a:rPr>
              <a:t>What's on the public ledger, and what stays private</a:t>
            </a:r>
          </a:p>
        </p:txBody>
      </p:sp>
      <p:pic>
        <p:nvPicPr>
          <p:cNvPr id="5" name="Picture 4" descr="logo-horizontal.png"/>
          <p:cNvPicPr>
            <a:picLocks noChangeAspect="1"/>
          </p:cNvPicPr>
          <p:nvPr/>
        </p:nvPicPr>
        <p:blipFill>
          <a:blip r:embed="rId2"/>
          <a:stretch>
            <a:fillRect/>
          </a:stretch>
        </p:blipFill>
        <p:spPr>
          <a:xfrm>
            <a:off x="640080" y="6263640"/>
            <a:ext cx="1598519" cy="274320"/>
          </a:xfrm>
          <a:prstGeom prst="rect">
            <a:avLst/>
          </a:prstGeom>
        </p:spPr>
      </p:pic>
      <p:sp>
        <p:nvSpPr>
          <p:cNvPr id="6" name="TextBox 5"/>
          <p:cNvSpPr txBox="1"/>
          <p:nvPr/>
        </p:nvSpPr>
        <p:spPr>
          <a:xfrm>
            <a:off x="10637215" y="6236208"/>
            <a:ext cx="914400" cy="365760"/>
          </a:xfrm>
          <a:prstGeom prst="rect">
            <a:avLst/>
          </a:prstGeom>
          <a:noFill/>
        </p:spPr>
        <p:txBody>
          <a:bodyPr wrap="square">
            <a:spAutoFit/>
          </a:bodyPr>
          <a:lstStyle/>
          <a:p>
            <a:pPr algn="r">
              <a:spcAft>
                <a:spcPts val="440"/>
              </a:spcAft>
            </a:pPr>
            <a:r>
              <a:rPr sz="1100" b="0">
                <a:solidFill>
                  <a:srgbClr val="4B5563"/>
                </a:solidFill>
                <a:latin typeface="Montserrat"/>
              </a:rPr>
              <a:t>8</a:t>
            </a:r>
          </a:p>
        </p:txBody>
      </p:sp>
      <p:sp>
        <p:nvSpPr>
          <p:cNvPr id="7" name="Rectangle 6"/>
          <p:cNvSpPr/>
          <p:nvPr/>
        </p:nvSpPr>
        <p:spPr>
          <a:xfrm>
            <a:off x="640080" y="2194560"/>
            <a:ext cx="5272887" cy="356616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2423160"/>
            <a:ext cx="4632807" cy="457200"/>
          </a:xfrm>
          <a:prstGeom prst="rect">
            <a:avLst/>
          </a:prstGeom>
          <a:noFill/>
        </p:spPr>
        <p:txBody>
          <a:bodyPr wrap="square">
            <a:spAutoFit/>
          </a:bodyPr>
          <a:lstStyle/>
          <a:p>
            <a:pPr algn="l">
              <a:spcAft>
                <a:spcPts val="720"/>
              </a:spcAft>
            </a:pPr>
            <a:r>
              <a:rPr sz="1800" b="1">
                <a:solidFill>
                  <a:srgbClr val="111827"/>
                </a:solidFill>
                <a:latin typeface="Montserrat"/>
              </a:rPr>
              <a:t>Public on the ledger</a:t>
            </a:r>
          </a:p>
        </p:txBody>
      </p:sp>
      <p:sp>
        <p:nvSpPr>
          <p:cNvPr id="9" name="TextBox 8"/>
          <p:cNvSpPr txBox="1"/>
          <p:nvPr/>
        </p:nvSpPr>
        <p:spPr>
          <a:xfrm>
            <a:off x="960120" y="3063240"/>
            <a:ext cx="4632807" cy="2560320"/>
          </a:xfrm>
          <a:prstGeom prst="rect">
            <a:avLst/>
          </a:prstGeom>
          <a:noFill/>
        </p:spPr>
        <p:txBody>
          <a:bodyPr wrap="square">
            <a:spAutoFit/>
          </a:bodyPr>
          <a:lstStyle/>
          <a:p>
            <a:pPr algn="l">
              <a:spcAft>
                <a:spcPts val="560"/>
              </a:spcAft>
            </a:pPr>
            <a:r>
              <a:rPr sz="1400" b="0">
                <a:solidFill>
                  <a:srgbClr val="111827"/>
                </a:solidFill>
                <a:latin typeface="Montserrat"/>
              </a:rPr>
              <a:t>Agreed price and milestone schedule</a:t>
            </a:r>
          </a:p>
          <a:p>
            <a:pPr algn="l">
              <a:spcAft>
                <a:spcPts val="560"/>
              </a:spcAft>
            </a:pPr>
            <a:r>
              <a:rPr sz="1400" b="0">
                <a:solidFill>
                  <a:srgbClr val="111827"/>
                </a:solidFill>
                <a:latin typeface="Montserrat"/>
              </a:rPr>
              <a:t>Route, as port codes (for example CNSHA → NLRTM)</a:t>
            </a:r>
          </a:p>
          <a:p>
            <a:pPr algn="l">
              <a:spcAft>
                <a:spcPts val="560"/>
              </a:spcAft>
            </a:pPr>
            <a:r>
              <a:rPr sz="1400" b="0">
                <a:solidFill>
                  <a:srgbClr val="111827"/>
                </a:solidFill>
                <a:latin typeface="Montserrat"/>
              </a:rPr>
              <a:t>Cargo sizes, weights and deliver-by date</a:t>
            </a:r>
          </a:p>
          <a:p>
            <a:pPr algn="l">
              <a:spcAft>
                <a:spcPts val="560"/>
              </a:spcAft>
            </a:pPr>
            <a:r>
              <a:rPr sz="1400" b="0">
                <a:solidFill>
                  <a:srgbClr val="111827"/>
                </a:solidFill>
                <a:latin typeface="Montserrat"/>
              </a:rPr>
              <a:t>Platform fees paid</a:t>
            </a:r>
          </a:p>
          <a:p>
            <a:pPr algn="l">
              <a:spcAft>
                <a:spcPts val="560"/>
              </a:spcAft>
            </a:pPr>
            <a:r>
              <a:rPr sz="1400" b="0">
                <a:solidFill>
                  <a:srgbClr val="111827"/>
                </a:solidFill>
                <a:latin typeface="Montserrat"/>
              </a:rPr>
              <a:t>Which addresses are verified businesses (no names)</a:t>
            </a:r>
          </a:p>
        </p:txBody>
      </p:sp>
      <p:sp>
        <p:nvSpPr>
          <p:cNvPr id="10" name="Rectangle 9"/>
          <p:cNvSpPr/>
          <p:nvPr/>
        </p:nvSpPr>
        <p:spPr>
          <a:xfrm>
            <a:off x="6278727" y="2194560"/>
            <a:ext cx="5272887" cy="3566160"/>
          </a:xfrm>
          <a:prstGeom prst="rect">
            <a:avLst/>
          </a:prstGeom>
          <a:solidFill>
            <a:srgbClr val="FFF1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98767" y="2423160"/>
            <a:ext cx="4632807" cy="457200"/>
          </a:xfrm>
          <a:prstGeom prst="rect">
            <a:avLst/>
          </a:prstGeom>
          <a:noFill/>
        </p:spPr>
        <p:txBody>
          <a:bodyPr wrap="square">
            <a:spAutoFit/>
          </a:bodyPr>
          <a:lstStyle/>
          <a:p>
            <a:pPr algn="l">
              <a:spcAft>
                <a:spcPts val="720"/>
              </a:spcAft>
            </a:pPr>
            <a:r>
              <a:rPr sz="1800" b="1">
                <a:solidFill>
                  <a:srgbClr val="111827"/>
                </a:solidFill>
                <a:latin typeface="Montserrat"/>
              </a:rPr>
              <a:t>Private to those involved</a:t>
            </a:r>
          </a:p>
        </p:txBody>
      </p:sp>
      <p:sp>
        <p:nvSpPr>
          <p:cNvPr id="12" name="TextBox 11"/>
          <p:cNvSpPr txBox="1"/>
          <p:nvPr/>
        </p:nvSpPr>
        <p:spPr>
          <a:xfrm>
            <a:off x="6598767" y="3063240"/>
            <a:ext cx="4632807" cy="2560320"/>
          </a:xfrm>
          <a:prstGeom prst="rect">
            <a:avLst/>
          </a:prstGeom>
          <a:noFill/>
        </p:spPr>
        <p:txBody>
          <a:bodyPr wrap="square">
            <a:spAutoFit/>
          </a:bodyPr>
          <a:lstStyle/>
          <a:p>
            <a:pPr algn="l">
              <a:spcAft>
                <a:spcPts val="560"/>
              </a:spcAft>
            </a:pPr>
            <a:r>
              <a:rPr sz="1400" b="0">
                <a:solidFill>
                  <a:srgbClr val="111827"/>
                </a:solidFill>
                <a:latin typeface="Montserrat"/>
              </a:rPr>
              <a:t>Company names, contacts and addresses</a:t>
            </a:r>
          </a:p>
          <a:p>
            <a:pPr algn="l">
              <a:spcAft>
                <a:spcPts val="560"/>
              </a:spcAft>
            </a:pPr>
            <a:r>
              <a:rPr sz="1400" b="0">
                <a:solidFill>
                  <a:srgbClr val="111827"/>
                </a:solidFill>
                <a:latin typeface="Montserrat"/>
              </a:rPr>
              <a:t>The consignee</a:t>
            </a:r>
          </a:p>
          <a:p>
            <a:pPr algn="l">
              <a:spcAft>
                <a:spcPts val="560"/>
              </a:spcAft>
            </a:pPr>
            <a:r>
              <a:rPr sz="1400" b="0">
                <a:solidFill>
                  <a:srgbClr val="111827"/>
                </a:solidFill>
                <a:latin typeface="Montserrat"/>
              </a:rPr>
              <a:t>Documents, photos and delivery evidence</a:t>
            </a:r>
          </a:p>
          <a:p>
            <a:pPr algn="l">
              <a:spcAft>
                <a:spcPts val="560"/>
              </a:spcAft>
            </a:pPr>
            <a:r>
              <a:rPr sz="1400" b="0">
                <a:solidFill>
                  <a:srgbClr val="111827"/>
                </a:solidFill>
                <a:latin typeface="Montserrat"/>
              </a:rPr>
              <a:t>Leg prices, shown only to the forwarder and that carrier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640080" y="502920"/>
            <a:ext cx="822960" cy="73152"/>
          </a:xfrm>
          <a:prstGeom prst="rect">
            <a:avLst/>
          </a:prstGeom>
          <a:solidFill>
            <a:srgbClr val="FF57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685800"/>
            <a:ext cx="10058400" cy="365760"/>
          </a:xfrm>
          <a:prstGeom prst="rect">
            <a:avLst/>
          </a:prstGeom>
          <a:noFill/>
        </p:spPr>
        <p:txBody>
          <a:bodyPr wrap="square">
            <a:spAutoFit/>
          </a:bodyPr>
          <a:lstStyle/>
          <a:p>
            <a:pPr algn="l">
              <a:spcAft>
                <a:spcPts val="480"/>
              </a:spcAft>
            </a:pPr>
            <a:r>
              <a:rPr sz="1200" b="1">
                <a:solidFill>
                  <a:srgbClr val="C2410C"/>
                </a:solidFill>
                <a:latin typeface="Montserrat"/>
              </a:rPr>
              <a:t>PRICING</a:t>
            </a:r>
          </a:p>
        </p:txBody>
      </p:sp>
      <p:sp>
        <p:nvSpPr>
          <p:cNvPr id="4" name="TextBox 3"/>
          <p:cNvSpPr txBox="1"/>
          <p:nvPr/>
        </p:nvSpPr>
        <p:spPr>
          <a:xfrm>
            <a:off x="640080" y="1005840"/>
            <a:ext cx="10881360" cy="1097280"/>
          </a:xfrm>
          <a:prstGeom prst="rect">
            <a:avLst/>
          </a:prstGeom>
          <a:noFill/>
        </p:spPr>
        <p:txBody>
          <a:bodyPr wrap="square">
            <a:spAutoFit/>
          </a:bodyPr>
          <a:lstStyle/>
          <a:p>
            <a:pPr algn="l">
              <a:spcAft>
                <a:spcPts val="1200"/>
              </a:spcAft>
            </a:pPr>
            <a:r>
              <a:rPr sz="3000" b="1">
                <a:solidFill>
                  <a:srgbClr val="111827"/>
                </a:solidFill>
                <a:latin typeface="Montserrat"/>
              </a:rPr>
              <a:t>Simple fees, fixed before you agree</a:t>
            </a:r>
          </a:p>
        </p:txBody>
      </p:sp>
      <p:pic>
        <p:nvPicPr>
          <p:cNvPr id="5" name="Picture 4" descr="logo-horizontal.png"/>
          <p:cNvPicPr>
            <a:picLocks noChangeAspect="1"/>
          </p:cNvPicPr>
          <p:nvPr/>
        </p:nvPicPr>
        <p:blipFill>
          <a:blip r:embed="rId2"/>
          <a:stretch>
            <a:fillRect/>
          </a:stretch>
        </p:blipFill>
        <p:spPr>
          <a:xfrm>
            <a:off x="640080" y="6263640"/>
            <a:ext cx="1598519" cy="274320"/>
          </a:xfrm>
          <a:prstGeom prst="rect">
            <a:avLst/>
          </a:prstGeom>
        </p:spPr>
      </p:pic>
      <p:sp>
        <p:nvSpPr>
          <p:cNvPr id="6" name="TextBox 5"/>
          <p:cNvSpPr txBox="1"/>
          <p:nvPr/>
        </p:nvSpPr>
        <p:spPr>
          <a:xfrm>
            <a:off x="10637215" y="6236208"/>
            <a:ext cx="914400" cy="365760"/>
          </a:xfrm>
          <a:prstGeom prst="rect">
            <a:avLst/>
          </a:prstGeom>
          <a:noFill/>
        </p:spPr>
        <p:txBody>
          <a:bodyPr wrap="square">
            <a:spAutoFit/>
          </a:bodyPr>
          <a:lstStyle/>
          <a:p>
            <a:pPr algn="r">
              <a:spcAft>
                <a:spcPts val="440"/>
              </a:spcAft>
            </a:pPr>
            <a:r>
              <a:rPr sz="1100" b="0">
                <a:solidFill>
                  <a:srgbClr val="4B5563"/>
                </a:solidFill>
                <a:latin typeface="Montserrat"/>
              </a:rPr>
              <a:t>9</a:t>
            </a:r>
          </a:p>
        </p:txBody>
      </p:sp>
      <p:sp>
        <p:nvSpPr>
          <p:cNvPr id="7" name="Rectangle 6"/>
          <p:cNvSpPr/>
          <p:nvPr/>
        </p:nvSpPr>
        <p:spPr>
          <a:xfrm>
            <a:off x="640080" y="2377440"/>
            <a:ext cx="3454298" cy="54864"/>
          </a:xfrm>
          <a:prstGeom prst="rect">
            <a:avLst/>
          </a:prstGeom>
          <a:solidFill>
            <a:srgbClr val="1118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2560320"/>
            <a:ext cx="3454298" cy="822960"/>
          </a:xfrm>
          <a:prstGeom prst="rect">
            <a:avLst/>
          </a:prstGeom>
          <a:noFill/>
        </p:spPr>
        <p:txBody>
          <a:bodyPr wrap="square">
            <a:spAutoFit/>
          </a:bodyPr>
          <a:lstStyle/>
          <a:p>
            <a:pPr algn="l">
              <a:spcAft>
                <a:spcPts val="640"/>
              </a:spcAft>
            </a:pPr>
            <a:r>
              <a:rPr sz="1600" b="1">
                <a:solidFill>
                  <a:srgbClr val="111827"/>
                </a:solidFill>
                <a:latin typeface="Montserrat"/>
              </a:rPr>
              <a:t>Shippers</a:t>
            </a:r>
          </a:p>
        </p:txBody>
      </p:sp>
      <p:sp>
        <p:nvSpPr>
          <p:cNvPr id="9" name="TextBox 8"/>
          <p:cNvSpPr txBox="1"/>
          <p:nvPr/>
        </p:nvSpPr>
        <p:spPr>
          <a:xfrm>
            <a:off x="640080" y="3429000"/>
            <a:ext cx="3454298" cy="2057400"/>
          </a:xfrm>
          <a:prstGeom prst="rect">
            <a:avLst/>
          </a:prstGeom>
          <a:noFill/>
        </p:spPr>
        <p:txBody>
          <a:bodyPr wrap="square">
            <a:spAutoFit/>
          </a:bodyPr>
          <a:lstStyle/>
          <a:p>
            <a:pPr algn="l">
              <a:spcAft>
                <a:spcPts val="520"/>
              </a:spcAft>
            </a:pPr>
            <a:r>
              <a:rPr sz="1300" b="0">
                <a:solidFill>
                  <a:srgbClr val="4B5563"/>
                </a:solidFill>
                <a:latin typeface="Montserrat"/>
              </a:rPr>
              <a:t>Pay the agreed price, and nothing more. Refunds and your share of a dispute split carry no fee.</a:t>
            </a:r>
          </a:p>
        </p:txBody>
      </p:sp>
      <p:sp>
        <p:nvSpPr>
          <p:cNvPr id="10" name="Rectangle 9"/>
          <p:cNvSpPr/>
          <p:nvPr/>
        </p:nvSpPr>
        <p:spPr>
          <a:xfrm>
            <a:off x="4368698" y="2377440"/>
            <a:ext cx="3454298" cy="54864"/>
          </a:xfrm>
          <a:prstGeom prst="rect">
            <a:avLst/>
          </a:prstGeom>
          <a:solidFill>
            <a:srgbClr val="1118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368698" y="2560320"/>
            <a:ext cx="3454298" cy="822960"/>
          </a:xfrm>
          <a:prstGeom prst="rect">
            <a:avLst/>
          </a:prstGeom>
          <a:noFill/>
        </p:spPr>
        <p:txBody>
          <a:bodyPr wrap="square">
            <a:spAutoFit/>
          </a:bodyPr>
          <a:lstStyle/>
          <a:p>
            <a:pPr algn="l">
              <a:spcAft>
                <a:spcPts val="640"/>
              </a:spcAft>
            </a:pPr>
            <a:r>
              <a:rPr sz="1600" b="1">
                <a:solidFill>
                  <a:srgbClr val="111827"/>
                </a:solidFill>
                <a:latin typeface="Montserrat"/>
              </a:rPr>
              <a:t>Forwarders</a:t>
            </a:r>
          </a:p>
        </p:txBody>
      </p:sp>
      <p:sp>
        <p:nvSpPr>
          <p:cNvPr id="12" name="TextBox 11"/>
          <p:cNvSpPr txBox="1"/>
          <p:nvPr/>
        </p:nvSpPr>
        <p:spPr>
          <a:xfrm>
            <a:off x="4368698" y="3429000"/>
            <a:ext cx="3454298" cy="2057400"/>
          </a:xfrm>
          <a:prstGeom prst="rect">
            <a:avLst/>
          </a:prstGeom>
          <a:noFill/>
        </p:spPr>
        <p:txBody>
          <a:bodyPr wrap="square">
            <a:spAutoFit/>
          </a:bodyPr>
          <a:lstStyle/>
          <a:p>
            <a:pPr algn="l">
              <a:spcAft>
                <a:spcPts val="520"/>
              </a:spcAft>
            </a:pPr>
            <a:r>
              <a:rPr sz="1300" b="0">
                <a:solidFill>
                  <a:srgbClr val="4B5563"/>
                </a:solidFill>
                <a:latin typeface="Montserrat"/>
              </a:rPr>
              <a:t>1% of the shipping cost (minimum 1 Gaju), paid when you confirm the booking, however the shipment ends. Payouts and extra charges carry no fee. Never more than 10%, by contract.</a:t>
            </a:r>
          </a:p>
        </p:txBody>
      </p:sp>
      <p:sp>
        <p:nvSpPr>
          <p:cNvPr id="13" name="Rectangle 12"/>
          <p:cNvSpPr/>
          <p:nvPr/>
        </p:nvSpPr>
        <p:spPr>
          <a:xfrm>
            <a:off x="8097316" y="2377440"/>
            <a:ext cx="3454298" cy="54864"/>
          </a:xfrm>
          <a:prstGeom prst="rect">
            <a:avLst/>
          </a:prstGeom>
          <a:solidFill>
            <a:srgbClr val="1118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097316" y="2560320"/>
            <a:ext cx="3454298" cy="822960"/>
          </a:xfrm>
          <a:prstGeom prst="rect">
            <a:avLst/>
          </a:prstGeom>
          <a:noFill/>
        </p:spPr>
        <p:txBody>
          <a:bodyPr wrap="square">
            <a:spAutoFit/>
          </a:bodyPr>
          <a:lstStyle/>
          <a:p>
            <a:pPr algn="l">
              <a:spcAft>
                <a:spcPts val="640"/>
              </a:spcAft>
            </a:pPr>
            <a:r>
              <a:rPr sz="1600" b="1">
                <a:solidFill>
                  <a:srgbClr val="111827"/>
                </a:solidFill>
                <a:latin typeface="Montserrat"/>
              </a:rPr>
              <a:t>Network fees</a:t>
            </a:r>
          </a:p>
        </p:txBody>
      </p:sp>
      <p:sp>
        <p:nvSpPr>
          <p:cNvPr id="15" name="TextBox 14"/>
          <p:cNvSpPr txBox="1"/>
          <p:nvPr/>
        </p:nvSpPr>
        <p:spPr>
          <a:xfrm>
            <a:off x="8097316" y="3429000"/>
            <a:ext cx="3454298" cy="2057400"/>
          </a:xfrm>
          <a:prstGeom prst="rect">
            <a:avLst/>
          </a:prstGeom>
          <a:noFill/>
        </p:spPr>
        <p:txBody>
          <a:bodyPr wrap="square">
            <a:spAutoFit/>
          </a:bodyPr>
          <a:lstStyle/>
          <a:p>
            <a:pPr algn="l">
              <a:spcAft>
                <a:spcPts val="520"/>
              </a:spcAft>
            </a:pPr>
            <a:r>
              <a:rPr sz="1300" b="0">
                <a:solidFill>
                  <a:srgbClr val="4B5563"/>
                </a:solidFill>
                <a:latin typeface="Montserrat"/>
              </a:rPr>
              <a:t>A tiny charge per signed action, paid by whoever signs it: a fraction of a Gaju for a whole shipment.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640080" y="502920"/>
            <a:ext cx="822960" cy="73152"/>
          </a:xfrm>
          <a:prstGeom prst="rect">
            <a:avLst/>
          </a:prstGeom>
          <a:solidFill>
            <a:srgbClr val="FF57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685800"/>
            <a:ext cx="10058400" cy="365760"/>
          </a:xfrm>
          <a:prstGeom prst="rect">
            <a:avLst/>
          </a:prstGeom>
          <a:noFill/>
        </p:spPr>
        <p:txBody>
          <a:bodyPr wrap="square">
            <a:spAutoFit/>
          </a:bodyPr>
          <a:lstStyle/>
          <a:p>
            <a:pPr algn="l">
              <a:spcAft>
                <a:spcPts val="480"/>
              </a:spcAft>
            </a:pPr>
            <a:r>
              <a:rPr sz="1200" b="1">
                <a:solidFill>
                  <a:srgbClr val="C2410C"/>
                </a:solidFill>
                <a:latin typeface="Montserrat"/>
              </a:rPr>
              <a:t>NEXT STEPS</a:t>
            </a:r>
          </a:p>
        </p:txBody>
      </p:sp>
      <p:sp>
        <p:nvSpPr>
          <p:cNvPr id="4" name="TextBox 3"/>
          <p:cNvSpPr txBox="1"/>
          <p:nvPr/>
        </p:nvSpPr>
        <p:spPr>
          <a:xfrm>
            <a:off x="640080" y="1005840"/>
            <a:ext cx="10881360" cy="1097280"/>
          </a:xfrm>
          <a:prstGeom prst="rect">
            <a:avLst/>
          </a:prstGeom>
          <a:noFill/>
        </p:spPr>
        <p:txBody>
          <a:bodyPr wrap="square">
            <a:spAutoFit/>
          </a:bodyPr>
          <a:lstStyle/>
          <a:p>
            <a:pPr algn="l">
              <a:spcAft>
                <a:spcPts val="1200"/>
              </a:spcAft>
            </a:pPr>
            <a:r>
              <a:rPr sz="3000" b="1">
                <a:solidFill>
                  <a:srgbClr val="111827"/>
                </a:solidFill>
                <a:latin typeface="Montserrat"/>
              </a:rPr>
              <a:t>Join the pilot</a:t>
            </a:r>
          </a:p>
        </p:txBody>
      </p:sp>
      <p:pic>
        <p:nvPicPr>
          <p:cNvPr id="5" name="Picture 4" descr="logo-horizontal.png"/>
          <p:cNvPicPr>
            <a:picLocks noChangeAspect="1"/>
          </p:cNvPicPr>
          <p:nvPr/>
        </p:nvPicPr>
        <p:blipFill>
          <a:blip r:embed="rId2"/>
          <a:stretch>
            <a:fillRect/>
          </a:stretch>
        </p:blipFill>
        <p:spPr>
          <a:xfrm>
            <a:off x="640080" y="6263640"/>
            <a:ext cx="1598519" cy="274320"/>
          </a:xfrm>
          <a:prstGeom prst="rect">
            <a:avLst/>
          </a:prstGeom>
        </p:spPr>
      </p:pic>
      <p:sp>
        <p:nvSpPr>
          <p:cNvPr id="6" name="TextBox 5"/>
          <p:cNvSpPr txBox="1"/>
          <p:nvPr/>
        </p:nvSpPr>
        <p:spPr>
          <a:xfrm>
            <a:off x="10637215" y="6236208"/>
            <a:ext cx="914400" cy="365760"/>
          </a:xfrm>
          <a:prstGeom prst="rect">
            <a:avLst/>
          </a:prstGeom>
          <a:noFill/>
        </p:spPr>
        <p:txBody>
          <a:bodyPr wrap="square">
            <a:spAutoFit/>
          </a:bodyPr>
          <a:lstStyle/>
          <a:p>
            <a:pPr algn="r">
              <a:spcAft>
                <a:spcPts val="440"/>
              </a:spcAft>
            </a:pPr>
            <a:r>
              <a:rPr sz="1100" b="0">
                <a:solidFill>
                  <a:srgbClr val="4B5563"/>
                </a:solidFill>
                <a:latin typeface="Montserrat"/>
              </a:rPr>
              <a:t>10</a:t>
            </a:r>
          </a:p>
        </p:txBody>
      </p:sp>
      <p:sp>
        <p:nvSpPr>
          <p:cNvPr id="7" name="Rectangle 6"/>
          <p:cNvSpPr/>
          <p:nvPr/>
        </p:nvSpPr>
        <p:spPr>
          <a:xfrm>
            <a:off x="640080" y="2194560"/>
            <a:ext cx="3454298" cy="54864"/>
          </a:xfrm>
          <a:prstGeom prst="rect">
            <a:avLst/>
          </a:prstGeom>
          <a:solidFill>
            <a:srgbClr val="1118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2377440"/>
            <a:ext cx="3454298" cy="822960"/>
          </a:xfrm>
          <a:prstGeom prst="rect">
            <a:avLst/>
          </a:prstGeom>
          <a:noFill/>
        </p:spPr>
        <p:txBody>
          <a:bodyPr wrap="square">
            <a:spAutoFit/>
          </a:bodyPr>
          <a:lstStyle/>
          <a:p>
            <a:pPr algn="l">
              <a:spcAft>
                <a:spcPts val="640"/>
              </a:spcAft>
            </a:pPr>
            <a:r>
              <a:rPr sz="1600" b="1">
                <a:solidFill>
                  <a:srgbClr val="111827"/>
                </a:solidFill>
                <a:latin typeface="Montserrat"/>
              </a:rPr>
              <a:t>Testnet alpha</a:t>
            </a:r>
          </a:p>
        </p:txBody>
      </p:sp>
      <p:sp>
        <p:nvSpPr>
          <p:cNvPr id="9" name="TextBox 8"/>
          <p:cNvSpPr txBox="1"/>
          <p:nvPr/>
        </p:nvSpPr>
        <p:spPr>
          <a:xfrm>
            <a:off x="640080" y="3246120"/>
            <a:ext cx="3454298" cy="1600200"/>
          </a:xfrm>
          <a:prstGeom prst="rect">
            <a:avLst/>
          </a:prstGeom>
          <a:noFill/>
        </p:spPr>
        <p:txBody>
          <a:bodyPr wrap="square">
            <a:spAutoFit/>
          </a:bodyPr>
          <a:lstStyle/>
          <a:p>
            <a:pPr algn="l">
              <a:spcAft>
                <a:spcPts val="520"/>
              </a:spcAft>
            </a:pPr>
            <a:r>
              <a:rPr sz="1300" b="0">
                <a:solidFill>
                  <a:srgbClr val="4B5563"/>
                </a:solidFill>
                <a:latin typeface="Montserrat"/>
              </a:rPr>
              <a:t>Run real lanes end to end with test funds. No money at risk; your feedback shapes the screens.</a:t>
            </a:r>
          </a:p>
        </p:txBody>
      </p:sp>
      <p:sp>
        <p:nvSpPr>
          <p:cNvPr id="10" name="Rectangle 9"/>
          <p:cNvSpPr/>
          <p:nvPr/>
        </p:nvSpPr>
        <p:spPr>
          <a:xfrm>
            <a:off x="4368698" y="2194560"/>
            <a:ext cx="3454298" cy="54864"/>
          </a:xfrm>
          <a:prstGeom prst="rect">
            <a:avLst/>
          </a:prstGeom>
          <a:solidFill>
            <a:srgbClr val="1118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368698" y="2377440"/>
            <a:ext cx="3454298" cy="822960"/>
          </a:xfrm>
          <a:prstGeom prst="rect">
            <a:avLst/>
          </a:prstGeom>
          <a:noFill/>
        </p:spPr>
        <p:txBody>
          <a:bodyPr wrap="square">
            <a:spAutoFit/>
          </a:bodyPr>
          <a:lstStyle/>
          <a:p>
            <a:pPr algn="l">
              <a:spcAft>
                <a:spcPts val="640"/>
              </a:spcAft>
            </a:pPr>
            <a:r>
              <a:rPr sz="1600" b="1">
                <a:solidFill>
                  <a:srgbClr val="111827"/>
                </a:solidFill>
                <a:latin typeface="Montserrat"/>
              </a:rPr>
              <a:t>Mainnet pilot</a:t>
            </a:r>
          </a:p>
        </p:txBody>
      </p:sp>
      <p:sp>
        <p:nvSpPr>
          <p:cNvPr id="12" name="TextBox 11"/>
          <p:cNvSpPr txBox="1"/>
          <p:nvPr/>
        </p:nvSpPr>
        <p:spPr>
          <a:xfrm>
            <a:off x="4368698" y="3246120"/>
            <a:ext cx="3454298" cy="1600200"/>
          </a:xfrm>
          <a:prstGeom prst="rect">
            <a:avLst/>
          </a:prstGeom>
          <a:noFill/>
        </p:spPr>
        <p:txBody>
          <a:bodyPr wrap="square">
            <a:spAutoFit/>
          </a:bodyPr>
          <a:lstStyle/>
          <a:p>
            <a:pPr algn="l">
              <a:spcAft>
                <a:spcPts val="520"/>
              </a:spcAft>
            </a:pPr>
            <a:r>
              <a:rPr sz="1300" b="0">
                <a:solidFill>
                  <a:srgbClr val="4B5563"/>
                </a:solidFill>
                <a:latin typeface="Montserrat"/>
              </a:rPr>
              <a:t>Real payments with a cap on shipment value, after an external audit of the contracts.</a:t>
            </a:r>
          </a:p>
        </p:txBody>
      </p:sp>
      <p:sp>
        <p:nvSpPr>
          <p:cNvPr id="13" name="Rectangle 12"/>
          <p:cNvSpPr/>
          <p:nvPr/>
        </p:nvSpPr>
        <p:spPr>
          <a:xfrm>
            <a:off x="8097316" y="2194560"/>
            <a:ext cx="3454298" cy="54864"/>
          </a:xfrm>
          <a:prstGeom prst="rect">
            <a:avLst/>
          </a:prstGeom>
          <a:solidFill>
            <a:srgbClr val="1118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097316" y="2377440"/>
            <a:ext cx="3454298" cy="822960"/>
          </a:xfrm>
          <a:prstGeom prst="rect">
            <a:avLst/>
          </a:prstGeom>
          <a:noFill/>
        </p:spPr>
        <p:txBody>
          <a:bodyPr wrap="square">
            <a:spAutoFit/>
          </a:bodyPr>
          <a:lstStyle/>
          <a:p>
            <a:pPr algn="l">
              <a:spcAft>
                <a:spcPts val="640"/>
              </a:spcAft>
            </a:pPr>
            <a:r>
              <a:rPr sz="1600" b="1">
                <a:solidFill>
                  <a:srgbClr val="111827"/>
                </a:solidFill>
                <a:latin typeface="Montserrat"/>
              </a:rPr>
              <a:t>What we need from you</a:t>
            </a:r>
          </a:p>
        </p:txBody>
      </p:sp>
      <p:sp>
        <p:nvSpPr>
          <p:cNvPr id="15" name="TextBox 14"/>
          <p:cNvSpPr txBox="1"/>
          <p:nvPr/>
        </p:nvSpPr>
        <p:spPr>
          <a:xfrm>
            <a:off x="8097316" y="3246120"/>
            <a:ext cx="3454298" cy="1600200"/>
          </a:xfrm>
          <a:prstGeom prst="rect">
            <a:avLst/>
          </a:prstGeom>
          <a:noFill/>
        </p:spPr>
        <p:txBody>
          <a:bodyPr wrap="square">
            <a:spAutoFit/>
          </a:bodyPr>
          <a:lstStyle/>
          <a:p>
            <a:pPr algn="l">
              <a:spcAft>
                <a:spcPts val="520"/>
              </a:spcAft>
            </a:pPr>
            <a:r>
              <a:rPr sz="1300" b="0">
                <a:solidFill>
                  <a:srgbClr val="4B5563"/>
                </a:solidFill>
                <a:latin typeface="Montserrat"/>
              </a:rPr>
              <a:t>A lane or two, a GajuDesk or GajuMobile wallet, and regular, honest feedback.</a:t>
            </a:r>
          </a:p>
        </p:txBody>
      </p:sp>
      <p:sp>
        <p:nvSpPr>
          <p:cNvPr id="16" name="Rectangle 15"/>
          <p:cNvSpPr/>
          <p:nvPr/>
        </p:nvSpPr>
        <p:spPr>
          <a:xfrm>
            <a:off x="640080" y="5120640"/>
            <a:ext cx="10911535" cy="822960"/>
          </a:xfrm>
          <a:prstGeom prst="rect">
            <a:avLst/>
          </a:prstGeom>
          <a:solidFill>
            <a:srgbClr val="1118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60120" y="5303520"/>
            <a:ext cx="10271455" cy="548640"/>
          </a:xfrm>
          <a:prstGeom prst="rect">
            <a:avLst/>
          </a:prstGeom>
          <a:noFill/>
        </p:spPr>
        <p:txBody>
          <a:bodyPr wrap="square">
            <a:spAutoFit/>
          </a:bodyPr>
          <a:lstStyle/>
          <a:p>
            <a:pPr algn="l">
              <a:spcAft>
                <a:spcPts val="720"/>
              </a:spcAft>
            </a:pPr>
            <a:r>
              <a:rPr sz="1800" b="1">
                <a:solidFill>
                  <a:srgbClr val="FFFFFF"/>
                </a:solidFill>
                <a:latin typeface="Montserrat"/>
              </a:rPr>
              <a:t>Shane P · shane@argodevops.co.uk</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